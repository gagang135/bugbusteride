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41"/>
  </p:notesMasterIdLst>
  <p:sldIdLst>
    <p:sldId id="256" r:id="rId2"/>
    <p:sldId id="257" r:id="rId3"/>
    <p:sldId id="259" r:id="rId4"/>
    <p:sldId id="260" r:id="rId5"/>
    <p:sldId id="288" r:id="rId6"/>
    <p:sldId id="261" r:id="rId7"/>
    <p:sldId id="263" r:id="rId8"/>
    <p:sldId id="284" r:id="rId9"/>
    <p:sldId id="289" r:id="rId10"/>
    <p:sldId id="302" r:id="rId11"/>
    <p:sldId id="290" r:id="rId12"/>
    <p:sldId id="291" r:id="rId13"/>
    <p:sldId id="292" r:id="rId14"/>
    <p:sldId id="294" r:id="rId15"/>
    <p:sldId id="298" r:id="rId16"/>
    <p:sldId id="318" r:id="rId17"/>
    <p:sldId id="300" r:id="rId18"/>
    <p:sldId id="301" r:id="rId19"/>
    <p:sldId id="295" r:id="rId20"/>
    <p:sldId id="296" r:id="rId21"/>
    <p:sldId id="297" r:id="rId22"/>
    <p:sldId id="310" r:id="rId23"/>
    <p:sldId id="311" r:id="rId24"/>
    <p:sldId id="312" r:id="rId25"/>
    <p:sldId id="313" r:id="rId26"/>
    <p:sldId id="314" r:id="rId27"/>
    <p:sldId id="315" r:id="rId28"/>
    <p:sldId id="303" r:id="rId29"/>
    <p:sldId id="306" r:id="rId30"/>
    <p:sldId id="307" r:id="rId31"/>
    <p:sldId id="308" r:id="rId32"/>
    <p:sldId id="304" r:id="rId33"/>
    <p:sldId id="305" r:id="rId34"/>
    <p:sldId id="317" r:id="rId35"/>
    <p:sldId id="319" r:id="rId36"/>
    <p:sldId id="321" r:id="rId37"/>
    <p:sldId id="322" r:id="rId38"/>
    <p:sldId id="320" r:id="rId39"/>
    <p:sldId id="323" r:id="rId4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D26867D-D484-4C0C-A2EB-16BC56C7CFBF}">
          <p14:sldIdLst>
            <p14:sldId id="256"/>
            <p14:sldId id="257"/>
            <p14:sldId id="259"/>
            <p14:sldId id="260"/>
            <p14:sldId id="288"/>
            <p14:sldId id="261"/>
            <p14:sldId id="263"/>
            <p14:sldId id="284"/>
            <p14:sldId id="289"/>
            <p14:sldId id="302"/>
            <p14:sldId id="290"/>
            <p14:sldId id="291"/>
            <p14:sldId id="292"/>
            <p14:sldId id="294"/>
            <p14:sldId id="298"/>
            <p14:sldId id="318"/>
            <p14:sldId id="300"/>
            <p14:sldId id="301"/>
            <p14:sldId id="295"/>
            <p14:sldId id="296"/>
            <p14:sldId id="297"/>
            <p14:sldId id="310"/>
            <p14:sldId id="311"/>
            <p14:sldId id="312"/>
            <p14:sldId id="313"/>
            <p14:sldId id="314"/>
            <p14:sldId id="315"/>
          </p14:sldIdLst>
        </p14:section>
        <p14:section name="Untitled Section" id="{55B35CDE-3D96-41DA-B52A-DEEDB40EEE40}">
          <p14:sldIdLst>
            <p14:sldId id="303"/>
          </p14:sldIdLst>
        </p14:section>
        <p14:section name="Untitled Section" id="{E007C033-B0F1-4276-AFE5-6C15F115CCD9}">
          <p14:sldIdLst>
            <p14:sldId id="306"/>
            <p14:sldId id="307"/>
            <p14:sldId id="308"/>
            <p14:sldId id="304"/>
            <p14:sldId id="305"/>
            <p14:sldId id="317"/>
            <p14:sldId id="319"/>
            <p14:sldId id="321"/>
            <p14:sldId id="322"/>
            <p14:sldId id="320"/>
            <p14:sldId id="323"/>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949CD7-7193-41E9-87AB-4DED75179C12}" v="19" dt="2025-12-05T04:00:52.50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660"/>
  </p:normalViewPr>
  <p:slideViewPr>
    <p:cSldViewPr>
      <p:cViewPr varScale="1">
        <p:scale>
          <a:sx n="78" d="100"/>
          <a:sy n="78" d="100"/>
        </p:scale>
        <p:origin x="989"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E6EF506-A35B-41B2-A593-4E3B7130F7B5}" type="datetimeFigureOut">
              <a:rPr lang="en-IN" smtClean="0"/>
              <a:t>05-12-2025</a:t>
            </a:fld>
            <a:endParaRPr lang="en-IN"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1DA06A1-9D58-4B09-B06E-EFB75BD9BDE4}" type="slidenum">
              <a:rPr lang="en-IN" smtClean="0"/>
              <a:t>‹#›</a:t>
            </a:fld>
            <a:endParaRPr lang="en-IN" dirty="0"/>
          </a:p>
        </p:txBody>
      </p:sp>
    </p:spTree>
    <p:extLst>
      <p:ext uri="{BB962C8B-B14F-4D97-AF65-F5344CB8AC3E}">
        <p14:creationId xmlns:p14="http://schemas.microsoft.com/office/powerpoint/2010/main" val="3434533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A06A1-9D58-4B09-B06E-EFB75BD9BDE4}" type="slidenum">
              <a:rPr lang="en-IN" smtClean="0"/>
              <a:t>19</a:t>
            </a:fld>
            <a:endParaRPr lang="en-IN" dirty="0"/>
          </a:p>
        </p:txBody>
      </p:sp>
    </p:spTree>
    <p:extLst>
      <p:ext uri="{BB962C8B-B14F-4D97-AF65-F5344CB8AC3E}">
        <p14:creationId xmlns:p14="http://schemas.microsoft.com/office/powerpoint/2010/main" val="761820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4044F-5CAD-42F9-E82E-9801AF722B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F65884-2635-3BEF-9D87-6AF2DCD85C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4B72FB6-5439-862F-EFC2-C425D2BD294A}"/>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id="{E925C258-56F3-2EF0-4AAA-49F064EF0E8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6DC4845-5897-4745-3B8D-37EC8D901D49}"/>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079716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38A26-1057-7E95-2DDD-4700F68456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887C39-2F56-7822-222B-FA0A35AEBA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CF70E5-8F76-A1A8-0D69-B0ECD11F2365}"/>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id="{BBF9A2E1-52D0-9BEB-7798-DC9DB563916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14AF80D-27CC-4786-4DF2-48AC2A861407}"/>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657227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6B56-2BF9-6FD1-3F63-7B0C5F6A79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2A22AE-8D1C-7A6E-C145-97A0F25F78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9822A9-C45A-F187-6015-EB62A8755AC8}"/>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id="{080D2208-0714-4AF1-E637-FAE132FD100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53D92FA-1F69-E024-2D72-F9AF68CF38A7}"/>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701206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17CB7-CF08-3057-604C-43B71FAD89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551A1C-D682-9CEB-82B4-FCFF63B60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1A594A-41C4-2D49-5F76-01E5052FC7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FA2098-097E-94F5-9842-6F60455F9039}"/>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6" name="Footer Placeholder 5">
            <a:extLst>
              <a:ext uri="{FF2B5EF4-FFF2-40B4-BE49-F238E27FC236}">
                <a16:creationId xmlns:a16="http://schemas.microsoft.com/office/drawing/2014/main" id="{03EAB65E-1CB3-970D-74F0-D5E2C220085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54C80C3-83DE-61B1-463F-91534B8566B0}"/>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49799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EEF67-2366-4B0D-D840-02D5D2BA7B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9C2A6F-9FCB-820A-7512-32116F182B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5BBADE-ACDF-F9B9-4444-B06B29F9FD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19A166-2A24-A43C-AED6-E9CCFC596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D9EF99-B768-D646-E7B2-92A5C594C1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D2DA31-E15D-36F0-4FB5-490CF62155D1}"/>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8" name="Footer Placeholder 7">
            <a:extLst>
              <a:ext uri="{FF2B5EF4-FFF2-40B4-BE49-F238E27FC236}">
                <a16:creationId xmlns:a16="http://schemas.microsoft.com/office/drawing/2014/main" id="{EB129E55-15BF-3879-625A-8ACC66233DA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8113632D-7417-EBC6-21A7-908035BAF98D}"/>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2944759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3DDC4-29D3-9C88-4359-0820689D4E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287FAC-1915-71CE-BE13-558A174CA083}"/>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4" name="Footer Placeholder 3">
            <a:extLst>
              <a:ext uri="{FF2B5EF4-FFF2-40B4-BE49-F238E27FC236}">
                <a16:creationId xmlns:a16="http://schemas.microsoft.com/office/drawing/2014/main" id="{8864844D-FC7C-07D1-9AB6-C8621B2C39B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C8B09966-01A7-A0D9-34CB-53F13BC8EE78}"/>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522302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62D225-ECAD-BDD8-04D1-021AF6249405}"/>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3" name="Footer Placeholder 2">
            <a:extLst>
              <a:ext uri="{FF2B5EF4-FFF2-40B4-BE49-F238E27FC236}">
                <a16:creationId xmlns:a16="http://schemas.microsoft.com/office/drawing/2014/main" id="{01FFA41D-3388-BB25-AC7D-0FCE77AEA96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5D5BD4E7-7298-7091-FBB2-CA8E49758C30}"/>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1068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25778-6271-4887-41BE-38332D256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DF8792-1A6F-FB13-893E-224D5FCA71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FEE357-9C40-3154-BC09-1679BCBDE6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FA5BD-43F2-E360-0159-A15C2AD7C9F0}"/>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6" name="Footer Placeholder 5">
            <a:extLst>
              <a:ext uri="{FF2B5EF4-FFF2-40B4-BE49-F238E27FC236}">
                <a16:creationId xmlns:a16="http://schemas.microsoft.com/office/drawing/2014/main" id="{2E56D61F-B9A7-C88A-B28E-EE87B4ABFD6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EE4D97A-4D32-E5B7-BD30-DEAA814A6E82}"/>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917715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5C356-C7E5-14A8-A200-7C321D1A94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CE63C6-4783-BB8E-AEB1-641DCF3991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933DB5B0-83E9-D71F-0043-C35D8B28B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10B6DC-D723-7571-BC77-5C0AC38329CF}"/>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6" name="Footer Placeholder 5">
            <a:extLst>
              <a:ext uri="{FF2B5EF4-FFF2-40B4-BE49-F238E27FC236}">
                <a16:creationId xmlns:a16="http://schemas.microsoft.com/office/drawing/2014/main" id="{051C5146-C745-9129-4C67-B419F40F34C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7804B09-BF85-9012-C3FC-54D2E208F1C0}"/>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776982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A890D-C74E-0976-183A-9515589EA2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1747C0-B7A3-E6BA-01A2-6891355EB9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E38713-A6CB-6F8B-FDCF-EB06DDFAE90C}"/>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id="{F1C540A2-0B0D-2882-198C-6956110F01B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C0067B0-C7ED-CBFB-E67C-ABCEF8031E46}"/>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397165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CEA560-8A4D-0C85-9206-127030D6DD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67CBF9-5769-34AF-6B63-911CB40CC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5756DE-E7D0-89DD-3084-DDC08D67E283}"/>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id="{575B20C5-79EC-FFBC-9DA9-B9ACFDF0A26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BBE1BE6-18B8-05D2-A5CB-1F47A689B4C7}"/>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4149310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178DBA"/>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3949680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D15A72-F353-C13E-B98A-9EFD9CD9F9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3857BB-AB4C-74A0-6431-F010D0165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59DE2C-E46E-6398-5A80-314743EAA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id="{8560D27C-1F7B-4162-2DB3-F309230795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3F1B768F-901E-35BD-3A32-62332681A3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IN" smtClean="0"/>
              <a:t>‹#›</a:t>
            </a:fld>
            <a:endParaRPr lang="en-IN" dirty="0"/>
          </a:p>
        </p:txBody>
      </p:sp>
    </p:spTree>
    <p:extLst>
      <p:ext uri="{BB962C8B-B14F-4D97-AF65-F5344CB8AC3E}">
        <p14:creationId xmlns:p14="http://schemas.microsoft.com/office/powerpoint/2010/main" val="295983472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0737" y="228600"/>
            <a:ext cx="10650525" cy="437300"/>
          </a:xfrm>
          <a:prstGeom prst="rect">
            <a:avLst/>
          </a:prstGeom>
        </p:spPr>
        <p:txBody>
          <a:bodyPr vert="horz" wrap="square" lIns="0" tIns="12700" rIns="0" bIns="0" rtlCol="0">
            <a:spAutoFit/>
          </a:bodyPr>
          <a:lstStyle/>
          <a:p>
            <a:pPr marL="12700">
              <a:lnSpc>
                <a:spcPct val="100000"/>
              </a:lnSpc>
              <a:spcBef>
                <a:spcPts val="100"/>
              </a:spcBef>
            </a:pPr>
            <a:r>
              <a:rPr lang="en-IN" sz="2500" dirty="0">
                <a:solidFill>
                  <a:srgbClr val="FF0000"/>
                </a:solidFill>
                <a:latin typeface="Times New Roman"/>
                <a:cs typeface="Times New Roman"/>
              </a:rPr>
              <a:t>VISVESVARAYA TECHNOLOGICAL UNIVERSITY, BELAGAVI-590018</a:t>
            </a:r>
            <a:endParaRPr sz="2500" dirty="0">
              <a:solidFill>
                <a:srgbClr val="FF0000"/>
              </a:solidFill>
              <a:latin typeface="Times New Roman"/>
              <a:cs typeface="Times New Roman"/>
            </a:endParaRPr>
          </a:p>
        </p:txBody>
      </p:sp>
      <p:sp>
        <p:nvSpPr>
          <p:cNvPr id="3" name="object 3"/>
          <p:cNvSpPr txBox="1"/>
          <p:nvPr/>
        </p:nvSpPr>
        <p:spPr>
          <a:xfrm>
            <a:off x="1830070" y="3910965"/>
            <a:ext cx="5485130" cy="2151871"/>
          </a:xfrm>
          <a:prstGeom prst="rect">
            <a:avLst/>
          </a:prstGeom>
        </p:spPr>
        <p:txBody>
          <a:bodyPr vert="horz" wrap="square" lIns="0" tIns="139700" rIns="0" bIns="0" rtlCol="0">
            <a:spAutoFit/>
          </a:bodyPr>
          <a:lstStyle/>
          <a:p>
            <a:pPr marL="12700">
              <a:lnSpc>
                <a:spcPct val="100000"/>
              </a:lnSpc>
              <a:spcBef>
                <a:spcPts val="1100"/>
              </a:spcBef>
            </a:pPr>
            <a:r>
              <a:rPr lang="en-IN" b="1" u="sng" spc="-25" dirty="0">
                <a:latin typeface="Times New Roman" panose="02020603050405020304" pitchFamily="18" charset="0"/>
                <a:cs typeface="Times New Roman" panose="02020603050405020304" pitchFamily="18" charset="0"/>
              </a:rPr>
              <a:t>Presenting </a:t>
            </a:r>
            <a:r>
              <a:rPr b="1" u="sng" spc="-25" dirty="0">
                <a:latin typeface="Times New Roman" panose="02020603050405020304" pitchFamily="18" charset="0"/>
                <a:cs typeface="Times New Roman" panose="02020603050405020304" pitchFamily="18" charset="0"/>
              </a:rPr>
              <a:t>By</a:t>
            </a:r>
            <a:endParaRPr u="sng" dirty="0">
              <a:latin typeface="Times New Roman" panose="02020603050405020304" pitchFamily="18" charset="0"/>
              <a:cs typeface="Times New Roman" panose="02020603050405020304" pitchFamily="18" charset="0"/>
            </a:endParaRPr>
          </a:p>
          <a:p>
            <a:pPr marL="12700" marR="543560">
              <a:lnSpc>
                <a:spcPct val="134600"/>
              </a:lnSpc>
            </a:pPr>
            <a:r>
              <a:rPr sz="2000" spc="130" dirty="0">
                <a:latin typeface="Times New Roman" panose="02020603050405020304" pitchFamily="18" charset="0"/>
                <a:cs typeface="Times New Roman" panose="02020603050405020304" pitchFamily="18" charset="0"/>
              </a:rPr>
              <a:t>A</a:t>
            </a:r>
            <a:r>
              <a:rPr sz="2000" spc="-110" dirty="0">
                <a:latin typeface="Times New Roman" panose="02020603050405020304" pitchFamily="18" charset="0"/>
                <a:cs typeface="Times New Roman" panose="02020603050405020304" pitchFamily="18" charset="0"/>
              </a:rPr>
              <a:t> </a:t>
            </a:r>
            <a:r>
              <a:rPr sz="2000" spc="160" dirty="0">
                <a:latin typeface="Times New Roman" panose="02020603050405020304" pitchFamily="18" charset="0"/>
                <a:cs typeface="Times New Roman" panose="02020603050405020304" pitchFamily="18" charset="0"/>
              </a:rPr>
              <a:t>M</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Chethan</a:t>
            </a:r>
            <a:r>
              <a:rPr sz="2000" spc="-130" dirty="0">
                <a:latin typeface="Times New Roman" panose="02020603050405020304" pitchFamily="18" charset="0"/>
                <a:cs typeface="Times New Roman" panose="02020603050405020304" pitchFamily="18" charset="0"/>
              </a:rPr>
              <a:t> </a:t>
            </a:r>
            <a:r>
              <a:rPr lang="en-IN" sz="2000" spc="-130" dirty="0">
                <a:latin typeface="Times New Roman" panose="02020603050405020304" pitchFamily="18" charset="0"/>
                <a:cs typeface="Times New Roman" panose="02020603050405020304" pitchFamily="18" charset="0"/>
              </a:rPr>
              <a:t>		</a:t>
            </a:r>
            <a:r>
              <a:rPr sz="2000" spc="-135" dirty="0">
                <a:latin typeface="Times New Roman" panose="02020603050405020304" pitchFamily="18" charset="0"/>
                <a:cs typeface="Times New Roman" panose="02020603050405020304" pitchFamily="18" charset="0"/>
              </a:rPr>
              <a:t>4GE22CS001 </a:t>
            </a:r>
            <a:endParaRPr lang="en-IN" sz="2000" spc="-135" dirty="0">
              <a:latin typeface="Times New Roman" panose="02020603050405020304" pitchFamily="18" charset="0"/>
              <a:cs typeface="Times New Roman" panose="02020603050405020304" pitchFamily="18" charset="0"/>
            </a:endParaRPr>
          </a:p>
          <a:p>
            <a:pPr marL="12700" marR="543560">
              <a:lnSpc>
                <a:spcPct val="134600"/>
              </a:lnSpc>
            </a:pPr>
            <a:r>
              <a:rPr sz="2000" spc="130" dirty="0">
                <a:latin typeface="Times New Roman" panose="02020603050405020304" pitchFamily="18" charset="0"/>
                <a:cs typeface="Times New Roman" panose="02020603050405020304" pitchFamily="18" charset="0"/>
              </a:rPr>
              <a:t>Gagan</a:t>
            </a:r>
            <a:r>
              <a:rPr sz="2000" spc="-204" dirty="0">
                <a:latin typeface="Times New Roman" panose="02020603050405020304" pitchFamily="18" charset="0"/>
                <a:cs typeface="Times New Roman" panose="02020603050405020304" pitchFamily="18" charset="0"/>
              </a:rPr>
              <a:t> </a:t>
            </a:r>
            <a:r>
              <a:rPr sz="2000" spc="220" dirty="0">
                <a:latin typeface="Times New Roman" panose="02020603050405020304" pitchFamily="18" charset="0"/>
                <a:cs typeface="Times New Roman" panose="02020603050405020304" pitchFamily="18" charset="0"/>
              </a:rPr>
              <a:t>G</a:t>
            </a:r>
            <a:r>
              <a:rPr sz="2000" spc="-180" dirty="0">
                <a:latin typeface="Times New Roman" panose="02020603050405020304" pitchFamily="18" charset="0"/>
                <a:cs typeface="Times New Roman" panose="02020603050405020304" pitchFamily="18" charset="0"/>
              </a:rPr>
              <a:t> </a:t>
            </a:r>
            <a:r>
              <a:rPr lang="en-IN" sz="2000" spc="-180"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4GE22CS014</a:t>
            </a:r>
            <a:endParaRPr sz="2000" dirty="0">
              <a:latin typeface="Times New Roman" panose="02020603050405020304" pitchFamily="18" charset="0"/>
              <a:cs typeface="Times New Roman" panose="02020603050405020304" pitchFamily="18" charset="0"/>
            </a:endParaRPr>
          </a:p>
          <a:p>
            <a:pPr marL="12700">
              <a:lnSpc>
                <a:spcPct val="100000"/>
              </a:lnSpc>
              <a:spcBef>
                <a:spcPts val="1010"/>
              </a:spcBef>
            </a:pPr>
            <a:r>
              <a:rPr sz="2000" spc="-114" dirty="0">
                <a:latin typeface="Times New Roman" panose="02020603050405020304" pitchFamily="18" charset="0"/>
                <a:cs typeface="Times New Roman" panose="02020603050405020304" pitchFamily="18" charset="0"/>
              </a:rPr>
              <a:t>Somesh</a:t>
            </a:r>
            <a:r>
              <a:rPr sz="2000" spc="-175" dirty="0">
                <a:latin typeface="Times New Roman" panose="02020603050405020304" pitchFamily="18" charset="0"/>
                <a:cs typeface="Times New Roman" panose="02020603050405020304" pitchFamily="18" charset="0"/>
              </a:rPr>
              <a:t> </a:t>
            </a:r>
            <a:r>
              <a:rPr sz="2000" spc="-40" dirty="0">
                <a:latin typeface="Times New Roman" panose="02020603050405020304" pitchFamily="18" charset="0"/>
                <a:cs typeface="Times New Roman" panose="02020603050405020304" pitchFamily="18" charset="0"/>
              </a:rPr>
              <a:t>N</a:t>
            </a:r>
            <a:r>
              <a:rPr sz="2000" spc="-180" dirty="0">
                <a:latin typeface="Times New Roman" panose="02020603050405020304" pitchFamily="18" charset="0"/>
                <a:cs typeface="Times New Roman" panose="02020603050405020304" pitchFamily="18" charset="0"/>
              </a:rPr>
              <a:t> </a:t>
            </a:r>
            <a:r>
              <a:rPr sz="2000" spc="180" dirty="0">
                <a:latin typeface="Times New Roman" panose="02020603050405020304" pitchFamily="18" charset="0"/>
                <a:cs typeface="Times New Roman" panose="02020603050405020304" pitchFamily="18" charset="0"/>
              </a:rPr>
              <a:t>M</a:t>
            </a:r>
            <a:r>
              <a:rPr sz="2000" spc="-170" dirty="0">
                <a:latin typeface="Times New Roman" panose="02020603050405020304" pitchFamily="18" charset="0"/>
                <a:cs typeface="Times New Roman" panose="02020603050405020304" pitchFamily="18" charset="0"/>
              </a:rPr>
              <a:t> </a:t>
            </a:r>
            <a:r>
              <a:rPr lang="en-IN" sz="2000" spc="-170"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4GE22CS037</a:t>
            </a:r>
            <a:endParaRPr sz="2000" dirty="0">
              <a:latin typeface="Times New Roman" panose="02020603050405020304" pitchFamily="18" charset="0"/>
              <a:cs typeface="Times New Roman" panose="02020603050405020304" pitchFamily="18" charset="0"/>
            </a:endParaRPr>
          </a:p>
          <a:p>
            <a:pPr marL="12700">
              <a:lnSpc>
                <a:spcPct val="100000"/>
              </a:lnSpc>
              <a:spcBef>
                <a:spcPts val="1000"/>
              </a:spcBef>
            </a:pPr>
            <a:r>
              <a:rPr sz="2000" spc="-145" dirty="0">
                <a:latin typeface="Times New Roman" panose="02020603050405020304" pitchFamily="18" charset="0"/>
                <a:cs typeface="Times New Roman" panose="02020603050405020304" pitchFamily="18" charset="0"/>
              </a:rPr>
              <a:t>Thejesh</a:t>
            </a:r>
            <a:r>
              <a:rPr sz="2000" spc="-155" dirty="0">
                <a:latin typeface="Times New Roman" panose="02020603050405020304" pitchFamily="18" charset="0"/>
                <a:cs typeface="Times New Roman" panose="02020603050405020304" pitchFamily="18" charset="0"/>
              </a:rPr>
              <a:t> </a:t>
            </a:r>
            <a:r>
              <a:rPr sz="2000" spc="-110" dirty="0">
                <a:latin typeface="Times New Roman" panose="02020603050405020304" pitchFamily="18" charset="0"/>
                <a:cs typeface="Times New Roman" panose="02020603050405020304" pitchFamily="18" charset="0"/>
              </a:rPr>
              <a:t>kumar</a:t>
            </a:r>
            <a:r>
              <a:rPr sz="2000" spc="-185" dirty="0">
                <a:latin typeface="Times New Roman" panose="02020603050405020304" pitchFamily="18" charset="0"/>
                <a:cs typeface="Times New Roman" panose="02020603050405020304" pitchFamily="18" charset="0"/>
              </a:rPr>
              <a:t> </a:t>
            </a:r>
            <a:r>
              <a:rPr sz="2000" spc="-459" dirty="0">
                <a:latin typeface="Times New Roman" panose="02020603050405020304" pitchFamily="18" charset="0"/>
                <a:cs typeface="Times New Roman" panose="02020603050405020304" pitchFamily="18" charset="0"/>
              </a:rPr>
              <a:t>T</a:t>
            </a:r>
            <a:r>
              <a:rPr sz="2000" spc="-160" dirty="0">
                <a:latin typeface="Times New Roman" panose="02020603050405020304" pitchFamily="18" charset="0"/>
                <a:cs typeface="Times New Roman" panose="02020603050405020304" pitchFamily="18" charset="0"/>
              </a:rPr>
              <a:t> </a:t>
            </a:r>
            <a:r>
              <a:rPr sz="2000" spc="-250" dirty="0">
                <a:latin typeface="Times New Roman" panose="02020603050405020304" pitchFamily="18" charset="0"/>
                <a:cs typeface="Times New Roman" panose="02020603050405020304" pitchFamily="18" charset="0"/>
              </a:rPr>
              <a:t>L</a:t>
            </a:r>
            <a:r>
              <a:rPr sz="2000" spc="-165" dirty="0">
                <a:latin typeface="Times New Roman" panose="02020603050405020304" pitchFamily="18" charset="0"/>
                <a:cs typeface="Times New Roman" panose="02020603050405020304" pitchFamily="18" charset="0"/>
              </a:rPr>
              <a:t> </a:t>
            </a:r>
            <a:r>
              <a:rPr lang="en-IN" sz="2000" spc="-165" dirty="0">
                <a:latin typeface="Times New Roman" panose="02020603050405020304" pitchFamily="18" charset="0"/>
                <a:cs typeface="Times New Roman" panose="02020603050405020304" pitchFamily="18" charset="0"/>
              </a:rPr>
              <a:t>		</a:t>
            </a:r>
            <a:r>
              <a:rPr sz="2000" spc="-125" dirty="0">
                <a:latin typeface="Times New Roman" panose="02020603050405020304" pitchFamily="18" charset="0"/>
                <a:cs typeface="Times New Roman" panose="02020603050405020304" pitchFamily="18" charset="0"/>
              </a:rPr>
              <a:t>4GE22CS042</a:t>
            </a:r>
            <a:endParaRPr sz="2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7696200" y="3719202"/>
            <a:ext cx="4191000" cy="993221"/>
          </a:xfrm>
          <a:prstGeom prst="rect">
            <a:avLst/>
          </a:prstGeom>
        </p:spPr>
        <p:txBody>
          <a:bodyPr vert="horz" wrap="square" lIns="0" tIns="102235" rIns="0" bIns="0" rtlCol="0">
            <a:spAutoFit/>
          </a:bodyPr>
          <a:lstStyle/>
          <a:p>
            <a:pPr algn="ctr">
              <a:lnSpc>
                <a:spcPct val="150000"/>
              </a:lnSpc>
              <a:spcBef>
                <a:spcPts val="805"/>
              </a:spcBef>
            </a:pPr>
            <a:r>
              <a:rPr b="1" u="sng" spc="-80" dirty="0">
                <a:latin typeface="Times New Roman" panose="02020603050405020304" pitchFamily="18" charset="0"/>
                <a:cs typeface="Times New Roman" panose="02020603050405020304" pitchFamily="18" charset="0"/>
              </a:rPr>
              <a:t>Under</a:t>
            </a:r>
            <a:r>
              <a:rPr b="1" u="sng" spc="-70" dirty="0">
                <a:latin typeface="Times New Roman" panose="02020603050405020304" pitchFamily="18" charset="0"/>
                <a:cs typeface="Times New Roman" panose="02020603050405020304" pitchFamily="18" charset="0"/>
              </a:rPr>
              <a:t> the</a:t>
            </a:r>
            <a:r>
              <a:rPr b="1" u="sng" spc="-60" dirty="0">
                <a:latin typeface="Times New Roman" panose="02020603050405020304" pitchFamily="18" charset="0"/>
                <a:cs typeface="Times New Roman" panose="02020603050405020304" pitchFamily="18" charset="0"/>
              </a:rPr>
              <a:t> </a:t>
            </a:r>
            <a:r>
              <a:rPr b="1" u="sng" spc="50" dirty="0">
                <a:latin typeface="Times New Roman" panose="02020603050405020304" pitchFamily="18" charset="0"/>
                <a:cs typeface="Times New Roman" panose="02020603050405020304" pitchFamily="18" charset="0"/>
              </a:rPr>
              <a:t>Guidance</a:t>
            </a:r>
            <a:r>
              <a:rPr b="1" u="sng" spc="-70" dirty="0">
                <a:latin typeface="Times New Roman" panose="02020603050405020304" pitchFamily="18" charset="0"/>
                <a:cs typeface="Times New Roman" panose="02020603050405020304" pitchFamily="18" charset="0"/>
              </a:rPr>
              <a:t> </a:t>
            </a:r>
            <a:r>
              <a:rPr b="1" u="sng" spc="-25" dirty="0">
                <a:latin typeface="Times New Roman" panose="02020603050405020304" pitchFamily="18" charset="0"/>
                <a:cs typeface="Times New Roman" panose="02020603050405020304" pitchFamily="18" charset="0"/>
              </a:rPr>
              <a:t>of</a:t>
            </a:r>
            <a:endParaRPr u="sng" dirty="0">
              <a:latin typeface="Times New Roman" panose="02020603050405020304" pitchFamily="18" charset="0"/>
              <a:cs typeface="Times New Roman" panose="02020603050405020304" pitchFamily="18" charset="0"/>
            </a:endParaRPr>
          </a:p>
          <a:p>
            <a:pPr marL="521970" marR="513080" algn="ctr">
              <a:lnSpc>
                <a:spcPct val="150000"/>
              </a:lnSpc>
              <a:spcBef>
                <a:spcPts val="100"/>
              </a:spcBef>
            </a:pPr>
            <a:r>
              <a:rPr sz="2000" spc="-114" dirty="0">
                <a:latin typeface="Times New Roman" panose="02020603050405020304" pitchFamily="18" charset="0"/>
                <a:cs typeface="Times New Roman" panose="02020603050405020304" pitchFamily="18" charset="0"/>
              </a:rPr>
              <a:t>Prof.</a:t>
            </a:r>
            <a:r>
              <a:rPr sz="2000" spc="-180" dirty="0">
                <a:latin typeface="Times New Roman" panose="02020603050405020304" pitchFamily="18" charset="0"/>
                <a:cs typeface="Times New Roman" panose="02020603050405020304" pitchFamily="18" charset="0"/>
              </a:rPr>
              <a:t> </a:t>
            </a:r>
            <a:r>
              <a:rPr sz="2000" spc="-204" dirty="0">
                <a:latin typeface="Times New Roman" panose="02020603050405020304" pitchFamily="18" charset="0"/>
                <a:cs typeface="Times New Roman" panose="02020603050405020304" pitchFamily="18" charset="0"/>
              </a:rPr>
              <a:t>SUREKHA</a:t>
            </a:r>
            <a:r>
              <a:rPr sz="2000" spc="-14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V </a:t>
            </a:r>
            <a:endParaRPr lang="en-IN" sz="2000" spc="-20" dirty="0">
              <a:latin typeface="Times New Roman" panose="02020603050405020304" pitchFamily="18" charset="0"/>
              <a:cs typeface="Times New Roman" panose="02020603050405020304" pitchFamily="18" charset="0"/>
            </a:endParaRPr>
          </a:p>
        </p:txBody>
      </p:sp>
      <p:sp>
        <p:nvSpPr>
          <p:cNvPr id="5" name="object 2">
            <a:extLst>
              <a:ext uri="{FF2B5EF4-FFF2-40B4-BE49-F238E27FC236}">
                <a16:creationId xmlns:a16="http://schemas.microsoft.com/office/drawing/2014/main" id="{CE41FD7A-C065-4CA5-9D37-75D05CEC219F}"/>
              </a:ext>
            </a:extLst>
          </p:cNvPr>
          <p:cNvSpPr txBox="1">
            <a:spLocks/>
          </p:cNvSpPr>
          <p:nvPr/>
        </p:nvSpPr>
        <p:spPr>
          <a:xfrm>
            <a:off x="746156" y="1382411"/>
            <a:ext cx="10972800" cy="165442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3600" b="1" i="0" kern="1200">
                <a:solidFill>
                  <a:srgbClr val="178DBA"/>
                </a:solidFill>
                <a:latin typeface="Times New Roman"/>
                <a:ea typeface="+mj-ea"/>
                <a:cs typeface="Times New Roman"/>
              </a:defRPr>
            </a:lvl1pPr>
          </a:lstStyle>
          <a:p>
            <a:pPr marL="12700" algn="ctr">
              <a:lnSpc>
                <a:spcPct val="150000"/>
              </a:lnSpc>
              <a:spcBef>
                <a:spcPts val="100"/>
              </a:spcBef>
            </a:pPr>
            <a:r>
              <a:rPr lang="en-IN" sz="2500" cap="all" dirty="0">
                <a:solidFill>
                  <a:schemeClr val="accent1"/>
                </a:solidFill>
              </a:rPr>
              <a:t>Govt. Engineering College, Chamarajanagara -571313 </a:t>
            </a:r>
          </a:p>
          <a:p>
            <a:pPr marL="12700" algn="ctr">
              <a:lnSpc>
                <a:spcPct val="150000"/>
              </a:lnSpc>
              <a:spcBef>
                <a:spcPts val="100"/>
              </a:spcBef>
            </a:pPr>
            <a:r>
              <a:rPr lang="en-IN" sz="2300" b="0" dirty="0">
                <a:solidFill>
                  <a:schemeClr val="tx1"/>
                </a:solidFill>
              </a:rPr>
              <a:t>Dept. of Computer Science &amp; Engineering</a:t>
            </a:r>
          </a:p>
          <a:p>
            <a:pPr marL="12700" algn="ctr">
              <a:lnSpc>
                <a:spcPct val="150000"/>
              </a:lnSpc>
              <a:spcBef>
                <a:spcPts val="100"/>
              </a:spcBef>
            </a:pPr>
            <a:r>
              <a:rPr lang="en-IN" sz="2500" dirty="0">
                <a:solidFill>
                  <a:schemeClr val="tx1"/>
                </a:solidFill>
              </a:rPr>
              <a:t>Major Project Work Presentation on </a:t>
            </a:r>
          </a:p>
        </p:txBody>
      </p:sp>
      <p:sp>
        <p:nvSpPr>
          <p:cNvPr id="6" name="object 2">
            <a:extLst>
              <a:ext uri="{FF2B5EF4-FFF2-40B4-BE49-F238E27FC236}">
                <a16:creationId xmlns:a16="http://schemas.microsoft.com/office/drawing/2014/main" id="{C1B67B8F-58CC-6A4A-2B12-12F0383DEFC2}"/>
              </a:ext>
            </a:extLst>
          </p:cNvPr>
          <p:cNvSpPr txBox="1">
            <a:spLocks/>
          </p:cNvSpPr>
          <p:nvPr/>
        </p:nvSpPr>
        <p:spPr>
          <a:xfrm>
            <a:off x="923137" y="3069183"/>
            <a:ext cx="10650525" cy="47448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3600" b="1" i="0" kern="1200">
                <a:solidFill>
                  <a:srgbClr val="178DBA"/>
                </a:solidFill>
                <a:latin typeface="Times New Roman"/>
                <a:ea typeface="+mj-ea"/>
                <a:cs typeface="Times New Roman"/>
              </a:defRPr>
            </a:lvl1pPr>
          </a:lstStyle>
          <a:p>
            <a:pPr marL="12700" algn="ctr">
              <a:lnSpc>
                <a:spcPct val="100000"/>
              </a:lnSpc>
              <a:spcBef>
                <a:spcPts val="100"/>
              </a:spcBef>
            </a:pPr>
            <a:r>
              <a:rPr lang="en-IN" sz="3000" dirty="0">
                <a:solidFill>
                  <a:srgbClr val="FF0000"/>
                </a:solidFill>
              </a:rPr>
              <a:t>“BugBuster IDE”</a:t>
            </a:r>
          </a:p>
        </p:txBody>
      </p:sp>
      <p:sp>
        <p:nvSpPr>
          <p:cNvPr id="7" name="Oval 6">
            <a:extLst>
              <a:ext uri="{FF2B5EF4-FFF2-40B4-BE49-F238E27FC236}">
                <a16:creationId xmlns:a16="http://schemas.microsoft.com/office/drawing/2014/main" id="{FA803CC6-13D5-D40B-FEAF-1D78E1F05BA2}"/>
              </a:ext>
            </a:extLst>
          </p:cNvPr>
          <p:cNvSpPr/>
          <p:nvPr/>
        </p:nvSpPr>
        <p:spPr>
          <a:xfrm>
            <a:off x="5410200" y="685800"/>
            <a:ext cx="1143000" cy="818143"/>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object 4">
            <a:extLst>
              <a:ext uri="{FF2B5EF4-FFF2-40B4-BE49-F238E27FC236}">
                <a16:creationId xmlns:a16="http://schemas.microsoft.com/office/drawing/2014/main" id="{C11204DC-2E4C-C6E2-69E1-9CB94CEF0F94}"/>
              </a:ext>
            </a:extLst>
          </p:cNvPr>
          <p:cNvSpPr txBox="1"/>
          <p:nvPr/>
        </p:nvSpPr>
        <p:spPr>
          <a:xfrm>
            <a:off x="7315200" y="5443973"/>
            <a:ext cx="4876800" cy="1375377"/>
          </a:xfrm>
          <a:prstGeom prst="rect">
            <a:avLst/>
          </a:prstGeom>
        </p:spPr>
        <p:txBody>
          <a:bodyPr vert="horz" wrap="square" lIns="0" tIns="102235" rIns="0" bIns="0" rtlCol="0">
            <a:spAutoFit/>
          </a:bodyPr>
          <a:lstStyle/>
          <a:p>
            <a:pPr algn="ctr">
              <a:lnSpc>
                <a:spcPct val="150000"/>
              </a:lnSpc>
              <a:spcBef>
                <a:spcPts val="805"/>
              </a:spcBef>
            </a:pPr>
            <a:r>
              <a:rPr lang="en-IN" b="1" u="sng" spc="-80" dirty="0">
                <a:latin typeface="Times New Roman" panose="02020603050405020304" pitchFamily="18" charset="0"/>
                <a:cs typeface="Times New Roman" panose="02020603050405020304" pitchFamily="18" charset="0"/>
              </a:rPr>
              <a:t>Head of Department</a:t>
            </a:r>
            <a:endParaRPr u="sng" dirty="0">
              <a:latin typeface="Times New Roman" panose="02020603050405020304" pitchFamily="18" charset="0"/>
              <a:cs typeface="Times New Roman" panose="02020603050405020304" pitchFamily="18" charset="0"/>
            </a:endParaRPr>
          </a:p>
          <a:p>
            <a:pPr marL="521970" marR="513080" algn="ctr">
              <a:lnSpc>
                <a:spcPct val="150000"/>
              </a:lnSpc>
              <a:spcBef>
                <a:spcPts val="100"/>
              </a:spcBef>
            </a:pPr>
            <a:r>
              <a:rPr lang="en-IN" spc="-20" dirty="0">
                <a:latin typeface="Times New Roman" panose="02020603050405020304" pitchFamily="18" charset="0"/>
                <a:cs typeface="Times New Roman" panose="02020603050405020304" pitchFamily="18" charset="0"/>
              </a:rPr>
              <a:t>Dr. Shyleshchandra K Gudihatti</a:t>
            </a:r>
          </a:p>
          <a:p>
            <a:pPr marL="521970" marR="513080" algn="ctr">
              <a:lnSpc>
                <a:spcPct val="150000"/>
              </a:lnSpc>
              <a:spcBef>
                <a:spcPts val="100"/>
              </a:spcBef>
            </a:pPr>
            <a:r>
              <a:rPr lang="en-IN" spc="-20" dirty="0">
                <a:latin typeface="Times New Roman" panose="02020603050405020304" pitchFamily="18" charset="0"/>
                <a:cs typeface="Times New Roman" panose="02020603050405020304" pitchFamily="18" charset="0"/>
              </a:rPr>
              <a:t>Associate professor</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685800"/>
            <a:ext cx="2278253" cy="474489"/>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Times New Roman" panose="02020603050405020304" pitchFamily="18" charset="0"/>
                <a:cs typeface="Times New Roman" panose="02020603050405020304" pitchFamily="18" charset="0"/>
              </a:rPr>
              <a:t>Abstract</a:t>
            </a:r>
          </a:p>
        </p:txBody>
      </p:sp>
      <p:sp>
        <p:nvSpPr>
          <p:cNvPr id="10" name="Rectangle 7"/>
          <p:cNvSpPr>
            <a:spLocks noChangeArrowheads="1"/>
          </p:cNvSpPr>
          <p:nvPr/>
        </p:nvSpPr>
        <p:spPr bwMode="auto">
          <a:xfrm>
            <a:off x="838200" y="1676400"/>
            <a:ext cx="11125200" cy="2657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141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The </a:t>
            </a:r>
            <a:r>
              <a:rPr kumimoji="0" 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BugBuster IDE</a:t>
            </a:r>
            <a:r>
              <a:rPr kumimoji="0" lang="en-US" sz="24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is a web-based, multi-language development environment that enhances coding efficiency. It accepts </a:t>
            </a:r>
            <a:r>
              <a:rPr kumimoji="0" 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source code</a:t>
            </a:r>
            <a:r>
              <a:rPr kumimoji="0" lang="en-US" sz="24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into a secure, Dockerized platform. The core </a:t>
            </a:r>
            <a:r>
              <a:rPr kumimoji="0" 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process</a:t>
            </a:r>
            <a:r>
              <a:rPr kumimoji="0" lang="en-US" sz="24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uses the </a:t>
            </a:r>
            <a:r>
              <a:rPr kumimoji="0" 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DeepSeek-Coder</a:t>
            </a:r>
            <a:r>
              <a:rPr kumimoji="0" lang="en-US" sz="24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model to analyze code structure and context, detecting subtle logical errors missed by traditional tools. The </a:t>
            </a:r>
            <a:r>
              <a:rPr kumimoji="0" 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output</a:t>
            </a:r>
            <a:r>
              <a:rPr kumimoji="0" lang="en-US" sz="24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provides clear error visualization and automated, accurate code corrections, offering a smarter and more productive development pathway.</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04800"/>
            <a:ext cx="10515600" cy="474489"/>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Times New Roman"/>
                <a:cs typeface="Times New Roman"/>
              </a:rPr>
              <a:t>Introduction</a:t>
            </a:r>
          </a:p>
        </p:txBody>
      </p:sp>
      <p:sp>
        <p:nvSpPr>
          <p:cNvPr id="3" name="object 3"/>
          <p:cNvSpPr txBox="1"/>
          <p:nvPr/>
        </p:nvSpPr>
        <p:spPr>
          <a:xfrm>
            <a:off x="533400" y="719967"/>
            <a:ext cx="10956797" cy="5564985"/>
          </a:xfrm>
          <a:prstGeom prst="rect">
            <a:avLst/>
          </a:prstGeom>
        </p:spPr>
        <p:txBody>
          <a:bodyPr vert="horz" wrap="square" lIns="0" tIns="12065" rIns="0" bIns="0" rtlCol="0">
            <a:spAutoFit/>
          </a:bodyPr>
          <a:lstStyle/>
          <a:p>
            <a:pPr marL="12700" algn="just">
              <a:lnSpc>
                <a:spcPct val="150000"/>
              </a:lnSpc>
              <a:spcBef>
                <a:spcPts val="95"/>
              </a:spcBef>
            </a:pPr>
            <a:r>
              <a:rPr lang="en-GB" sz="2400" dirty="0">
                <a:solidFill>
                  <a:srgbClr val="404040"/>
                </a:solidFill>
                <a:latin typeface="Times New Roman"/>
                <a:cs typeface="Times New Roman"/>
              </a:rPr>
              <a:t>Existing IDE’S Students and beginners often struggle to identify and correct bugs in their code. Manual debugging takes more time, requires experienced knowledge, and is error-prone. Existing tools provide either basic syntax checks or are too advanced/complex for beginners. No simple platform that gives instant feedback, auto-correct suggestions, and error explanations in one place.</a:t>
            </a:r>
          </a:p>
          <a:p>
            <a:pPr marL="12700" algn="just">
              <a:lnSpc>
                <a:spcPct val="150000"/>
              </a:lnSpc>
              <a:spcBef>
                <a:spcPts val="95"/>
              </a:spcBef>
            </a:pPr>
            <a:r>
              <a:rPr lang="en-IN" sz="2400" dirty="0">
                <a:latin typeface="Times New Roman"/>
                <a:cs typeface="Times New Roman"/>
              </a:rPr>
              <a:t>Bug Buster supports multiple languages (like Python, C, Java, javascript, C sharp, CPP – customizable).Identifies syntax, semantic, and logical errors quickly. </a:t>
            </a:r>
            <a:r>
              <a:rPr lang="en-IN" sz="2400">
                <a:latin typeface="Times New Roman"/>
                <a:cs typeface="Times New Roman"/>
              </a:rPr>
              <a:t>Provides  </a:t>
            </a:r>
            <a:r>
              <a:rPr lang="en-IN" sz="2400" dirty="0">
                <a:latin typeface="Times New Roman"/>
                <a:cs typeface="Times New Roman"/>
              </a:rPr>
              <a:t>corrected code suggestions, and tips to avoid similar mistakes. Reduces debugging time and helps users learn from their mistakes. User-friendly interface with fast processing, making it ideal for academic use.</a:t>
            </a:r>
            <a:endParaRPr sz="24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90661"/>
            <a:ext cx="10515600" cy="474489"/>
          </a:xfrm>
          <a:prstGeom prst="rect">
            <a:avLst/>
          </a:prstGeom>
        </p:spPr>
        <p:txBody>
          <a:bodyPr vert="horz" wrap="square" lIns="0" tIns="12700" rIns="0" bIns="0" rtlCol="0">
            <a:spAutoFit/>
          </a:bodyPr>
          <a:lstStyle/>
          <a:p>
            <a:pPr marL="12700">
              <a:lnSpc>
                <a:spcPct val="100000"/>
              </a:lnSpc>
              <a:spcBef>
                <a:spcPts val="100"/>
              </a:spcBef>
            </a:pPr>
            <a:r>
              <a:rPr sz="3000" b="1" dirty="0">
                <a:latin typeface="Times New Roman" panose="02020603050405020304" pitchFamily="18" charset="0"/>
                <a:cs typeface="Times New Roman" panose="02020603050405020304" pitchFamily="18" charset="0"/>
              </a:rPr>
              <a:t>Problem</a:t>
            </a:r>
            <a:r>
              <a:rPr sz="3000" b="1" spc="-110" dirty="0">
                <a:latin typeface="Times New Roman" panose="02020603050405020304" pitchFamily="18" charset="0"/>
                <a:cs typeface="Times New Roman" panose="02020603050405020304" pitchFamily="18" charset="0"/>
              </a:rPr>
              <a:t> </a:t>
            </a:r>
            <a:r>
              <a:rPr sz="3000" b="1" spc="-10" dirty="0">
                <a:latin typeface="Times New Roman" panose="02020603050405020304" pitchFamily="18" charset="0"/>
                <a:cs typeface="Times New Roman" panose="02020603050405020304" pitchFamily="18" charset="0"/>
              </a:rPr>
              <a:t>Statement</a:t>
            </a:r>
          </a:p>
        </p:txBody>
      </p:sp>
      <p:sp>
        <p:nvSpPr>
          <p:cNvPr id="5" name="Rectangle 2"/>
          <p:cNvSpPr>
            <a:spLocks noChangeArrowheads="1"/>
          </p:cNvSpPr>
          <p:nvPr/>
        </p:nvSpPr>
        <p:spPr bwMode="auto">
          <a:xfrm>
            <a:off x="838200" y="1413303"/>
            <a:ext cx="10515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GB" sz="2400" dirty="0">
                <a:latin typeface="Times New Roman" panose="02020603050405020304" pitchFamily="18" charset="0"/>
                <a:cs typeface="Times New Roman" panose="02020603050405020304" pitchFamily="18" charset="0"/>
              </a:rPr>
              <a:t>BugBuster is an intelligent, cross-language system that uses the Deepseek-Coder model to detect bugs and automatically correct errors in real time.</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7CC3C-941B-E9C4-5939-7EDE216561FA}"/>
              </a:ext>
            </a:extLst>
          </p:cNvPr>
          <p:cNvSpPr>
            <a:spLocks noGrp="1"/>
          </p:cNvSpPr>
          <p:nvPr>
            <p:ph type="ctrTitle"/>
          </p:nvPr>
        </p:nvSpPr>
        <p:spPr>
          <a:xfrm>
            <a:off x="1524000" y="1122363"/>
            <a:ext cx="9144000" cy="554037"/>
          </a:xfrm>
        </p:spPr>
        <p:txBody>
          <a:bodyPr>
            <a:normAutofit/>
          </a:bodyPr>
          <a:lstStyle/>
          <a:p>
            <a:pPr algn="l"/>
            <a:r>
              <a:rPr lang="en-IN" sz="3000" b="1" dirty="0">
                <a:latin typeface="Times New Roman" panose="02020603050405020304" pitchFamily="18" charset="0"/>
                <a:cs typeface="Times New Roman" panose="02020603050405020304" pitchFamily="18" charset="0"/>
              </a:rPr>
              <a:t>Scope of the Project</a:t>
            </a:r>
          </a:p>
        </p:txBody>
      </p:sp>
      <p:sp>
        <p:nvSpPr>
          <p:cNvPr id="5" name="Rectangle 2">
            <a:extLst>
              <a:ext uri="{FF2B5EF4-FFF2-40B4-BE49-F238E27FC236}">
                <a16:creationId xmlns:a16="http://schemas.microsoft.com/office/drawing/2014/main" id="{503C8CEC-61E1-49C6-09ED-34F441C4D522}"/>
              </a:ext>
            </a:extLst>
          </p:cNvPr>
          <p:cNvSpPr>
            <a:spLocks noGrp="1" noChangeArrowheads="1"/>
          </p:cNvSpPr>
          <p:nvPr>
            <p:ph type="subTitle" idx="1"/>
          </p:nvPr>
        </p:nvSpPr>
        <p:spPr bwMode="auto">
          <a:xfrm>
            <a:off x="1550158" y="2057400"/>
            <a:ext cx="7745775" cy="1750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IDE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multi-language coding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Java, C, C++, JS, etc.)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AI-powered 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auto-detect &amp; correct syntax, semantic, and logical errors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Panels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management, code editing, output, and error messages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 execution via Dockerized compilers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174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9198" y="587873"/>
            <a:ext cx="3081402" cy="474489"/>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Times New Roman"/>
                <a:cs typeface="Times New Roman"/>
              </a:rPr>
              <a:t>Objectives</a:t>
            </a:r>
          </a:p>
        </p:txBody>
      </p:sp>
      <p:sp>
        <p:nvSpPr>
          <p:cNvPr id="3" name="object 3"/>
          <p:cNvSpPr txBox="1"/>
          <p:nvPr/>
        </p:nvSpPr>
        <p:spPr>
          <a:xfrm>
            <a:off x="1410080" y="1167790"/>
            <a:ext cx="10024745" cy="2612895"/>
          </a:xfrm>
          <a:prstGeom prst="rect">
            <a:avLst/>
          </a:prstGeom>
        </p:spPr>
        <p:txBody>
          <a:bodyPr vert="horz" wrap="square" lIns="0" tIns="139065" rIns="0" bIns="0" rtlCol="0">
            <a:spAutoFit/>
          </a:bodyPr>
          <a:lstStyle/>
          <a:p>
            <a:pPr marL="514985" indent="-514350">
              <a:lnSpc>
                <a:spcPct val="150000"/>
              </a:lnSpc>
              <a:spcBef>
                <a:spcPts val="1095"/>
              </a:spcBef>
              <a:buSzPct val="87500"/>
              <a:buAutoNum type="arabicPeriod"/>
              <a:tabLst>
                <a:tab pos="181610" algn="l"/>
              </a:tabLst>
            </a:pPr>
            <a:r>
              <a:rPr sz="2400" spc="-10" dirty="0">
                <a:solidFill>
                  <a:srgbClr val="404040"/>
                </a:solidFill>
                <a:uFill>
                  <a:solidFill>
                    <a:srgbClr val="404040"/>
                  </a:solidFill>
                </a:uFill>
                <a:latin typeface="Times New Roman" panose="02020603050405020304" pitchFamily="18" charset="0"/>
                <a:cs typeface="Times New Roman" panose="02020603050405020304" pitchFamily="18" charset="0"/>
              </a:rPr>
              <a:t>Automated</a:t>
            </a:r>
            <a:r>
              <a:rPr sz="2400" spc="-5" dirty="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50" dirty="0">
                <a:solidFill>
                  <a:srgbClr val="404040"/>
                </a:solidFill>
                <a:uFill>
                  <a:solidFill>
                    <a:srgbClr val="404040"/>
                  </a:solidFill>
                </a:uFill>
                <a:latin typeface="Times New Roman" panose="02020603050405020304" pitchFamily="18" charset="0"/>
                <a:cs typeface="Times New Roman" panose="02020603050405020304" pitchFamily="18" charset="0"/>
              </a:rPr>
              <a:t>Error</a:t>
            </a:r>
            <a:r>
              <a:rPr sz="2400" spc="-15" dirty="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0" dirty="0">
                <a:solidFill>
                  <a:srgbClr val="404040"/>
                </a:solidFill>
                <a:uFill>
                  <a:solidFill>
                    <a:srgbClr val="404040"/>
                  </a:solidFill>
                </a:uFill>
                <a:latin typeface="Times New Roman" panose="02020603050405020304" pitchFamily="18" charset="0"/>
                <a:cs typeface="Times New Roman" panose="02020603050405020304" pitchFamily="18" charset="0"/>
              </a:rPr>
              <a:t>Detection</a:t>
            </a:r>
            <a:endParaRPr lang="en-GB" sz="2800" dirty="0">
              <a:latin typeface="Times New Roman" panose="02020603050405020304" pitchFamily="18" charset="0"/>
              <a:cs typeface="Times New Roman" panose="02020603050405020304" pitchFamily="18" charset="0"/>
            </a:endParaRPr>
          </a:p>
          <a:p>
            <a:pPr marL="457835" indent="-457200">
              <a:lnSpc>
                <a:spcPct val="150000"/>
              </a:lnSpc>
              <a:spcBef>
                <a:spcPts val="1095"/>
              </a:spcBef>
              <a:buSzPct val="87500"/>
              <a:buAutoNum type="arabicPeriod"/>
              <a:tabLst>
                <a:tab pos="181610" algn="l"/>
              </a:tabLst>
            </a:pPr>
            <a:r>
              <a:rPr sz="2400" spc="-40" dirty="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0" dirty="0">
                <a:solidFill>
                  <a:srgbClr val="404040"/>
                </a:solidFill>
                <a:uFill>
                  <a:solidFill>
                    <a:srgbClr val="404040"/>
                  </a:solidFill>
                </a:uFill>
                <a:latin typeface="Times New Roman" panose="02020603050405020304" pitchFamily="18" charset="0"/>
                <a:cs typeface="Times New Roman" panose="02020603050405020304" pitchFamily="18" charset="0"/>
              </a:rPr>
              <a:t>Automated</a:t>
            </a:r>
            <a:r>
              <a:rPr sz="2400" spc="-20" dirty="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70" dirty="0">
                <a:solidFill>
                  <a:srgbClr val="404040"/>
                </a:solidFill>
                <a:uFill>
                  <a:solidFill>
                    <a:srgbClr val="404040"/>
                  </a:solidFill>
                </a:uFill>
                <a:latin typeface="Times New Roman" panose="02020603050405020304" pitchFamily="18" charset="0"/>
                <a:cs typeface="Times New Roman" panose="02020603050405020304" pitchFamily="18" charset="0"/>
              </a:rPr>
              <a:t>Code</a:t>
            </a:r>
            <a:r>
              <a:rPr sz="2400" spc="-40" dirty="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0" dirty="0">
                <a:solidFill>
                  <a:srgbClr val="404040"/>
                </a:solidFill>
                <a:uFill>
                  <a:solidFill>
                    <a:srgbClr val="404040"/>
                  </a:solidFill>
                </a:uFill>
                <a:latin typeface="Times New Roman" panose="02020603050405020304" pitchFamily="18" charset="0"/>
                <a:cs typeface="Times New Roman" panose="02020603050405020304" pitchFamily="18" charset="0"/>
              </a:rPr>
              <a:t>Correction</a:t>
            </a:r>
            <a:endParaRPr lang="en-GB" sz="2400" dirty="0">
              <a:latin typeface="Times New Roman" panose="02020603050405020304" pitchFamily="18" charset="0"/>
              <a:cs typeface="Times New Roman" panose="02020603050405020304" pitchFamily="18" charset="0"/>
            </a:endParaRPr>
          </a:p>
          <a:p>
            <a:pPr marL="457835" indent="-457200">
              <a:lnSpc>
                <a:spcPct val="150000"/>
              </a:lnSpc>
              <a:spcBef>
                <a:spcPts val="1095"/>
              </a:spcBef>
              <a:buSzPct val="87500"/>
              <a:buAutoNum type="arabicPeriod"/>
              <a:tabLst>
                <a:tab pos="181610" algn="l"/>
              </a:tabLst>
            </a:pPr>
            <a:r>
              <a:rPr lang="en-GB" sz="2400" spc="-20" dirty="0">
                <a:solidFill>
                  <a:srgbClr val="404040"/>
                </a:solidFill>
                <a:uFill>
                  <a:solidFill>
                    <a:srgbClr val="404040"/>
                  </a:solidFill>
                </a:uFill>
                <a:latin typeface="Times New Roman" panose="02020603050405020304" pitchFamily="18" charset="0"/>
                <a:cs typeface="Times New Roman" panose="02020603050405020304" pitchFamily="18" charset="0"/>
              </a:rPr>
              <a:t> Support Multiple Language</a:t>
            </a:r>
            <a:endParaRPr lang="en-GB" sz="2400" dirty="0">
              <a:latin typeface="Times New Roman" panose="02020603050405020304" pitchFamily="18" charset="0"/>
              <a:cs typeface="Times New Roman" panose="02020603050405020304" pitchFamily="18" charset="0"/>
            </a:endParaRPr>
          </a:p>
          <a:p>
            <a:pPr marL="635">
              <a:lnSpc>
                <a:spcPct val="100000"/>
              </a:lnSpc>
              <a:spcBef>
                <a:spcPts val="1005"/>
              </a:spcBef>
              <a:buSzPct val="87500"/>
              <a:tabLst>
                <a:tab pos="181610" algn="l"/>
              </a:tabLst>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9198" y="558917"/>
            <a:ext cx="3052445" cy="474489"/>
          </a:xfrm>
          <a:prstGeom prst="rect">
            <a:avLst/>
          </a:prstGeom>
        </p:spPr>
        <p:txBody>
          <a:bodyPr vert="horz" wrap="square" lIns="0" tIns="12700" rIns="0" bIns="0" rtlCol="0">
            <a:spAutoFit/>
          </a:bodyPr>
          <a:lstStyle/>
          <a:p>
            <a:pPr marL="12700">
              <a:lnSpc>
                <a:spcPct val="100000"/>
              </a:lnSpc>
              <a:spcBef>
                <a:spcPts val="100"/>
              </a:spcBef>
            </a:pPr>
            <a:r>
              <a:rPr sz="3000" b="1" spc="-105" dirty="0">
                <a:latin typeface="Times New Roman" panose="02020603050405020304" pitchFamily="18" charset="0"/>
                <a:cs typeface="Times New Roman" panose="02020603050405020304" pitchFamily="18" charset="0"/>
              </a:rPr>
              <a:t>Requirements</a:t>
            </a:r>
          </a:p>
        </p:txBody>
      </p:sp>
      <p:sp>
        <p:nvSpPr>
          <p:cNvPr id="5" name="TextBox 4">
            <a:extLst>
              <a:ext uri="{FF2B5EF4-FFF2-40B4-BE49-F238E27FC236}">
                <a16:creationId xmlns:a16="http://schemas.microsoft.com/office/drawing/2014/main" id="{DF47D738-60F9-E0EA-C2E1-6DA062CA378E}"/>
              </a:ext>
            </a:extLst>
          </p:cNvPr>
          <p:cNvSpPr txBox="1"/>
          <p:nvPr/>
        </p:nvSpPr>
        <p:spPr>
          <a:xfrm>
            <a:off x="1600200" y="1143000"/>
            <a:ext cx="9906000" cy="5632311"/>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Software Requirements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React.js with Monaco Editor</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FastAPI (Python)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AI/ML Models</a:t>
            </a:r>
            <a:r>
              <a:rPr lang="en-IN" dirty="0">
                <a:latin typeface="Times New Roman" panose="02020603050405020304" pitchFamily="18" charset="0"/>
                <a:cs typeface="Times New Roman" panose="02020603050405020304" pitchFamily="18" charset="0"/>
              </a:rPr>
              <a:t>: LLMs for autocorrection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Containerization</a:t>
            </a:r>
            <a:r>
              <a:rPr lang="en-IN" dirty="0">
                <a:latin typeface="Times New Roman" panose="02020603050405020304" pitchFamily="18" charset="0"/>
                <a:cs typeface="Times New Roman" panose="02020603050405020304" pitchFamily="18" charset="0"/>
              </a:rPr>
              <a:t>: Docker (with compiler images for Python, C, C++, Java, etc.)</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OS Support</a:t>
            </a:r>
            <a:r>
              <a:rPr lang="en-IN" dirty="0">
                <a:latin typeface="Times New Roman" panose="02020603050405020304" pitchFamily="18" charset="0"/>
                <a:cs typeface="Times New Roman" panose="02020603050405020304" pitchFamily="18" charset="0"/>
              </a:rPr>
              <a:t>: Windows, Linux, macOS (browser-based access)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Browser Support</a:t>
            </a:r>
            <a:r>
              <a:rPr lang="en-IN" dirty="0">
                <a:latin typeface="Times New Roman" panose="02020603050405020304" pitchFamily="18" charset="0"/>
                <a:cs typeface="Times New Roman" panose="02020603050405020304" pitchFamily="18" charset="0"/>
              </a:rPr>
              <a:t>: Chrome, Firefox, Edge</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r>
              <a:rPr lang="en-IN" b="1" u="sng" dirty="0">
                <a:latin typeface="Times New Roman" panose="02020603050405020304" pitchFamily="18" charset="0"/>
                <a:cs typeface="Times New Roman" panose="02020603050405020304" pitchFamily="18" charset="0"/>
              </a:rPr>
              <a:t>Hardware Requirements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Server/Deployment</a:t>
            </a:r>
            <a:r>
              <a:rPr lang="en-IN"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Processor: Quad-Core (Intel i5 / AMD Ryzen 5 or higher)</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RAM: 8 GB minimum</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Storage: 256 GB SSD or more</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Internet: Stable broadband for real-time execution and model API calls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Client (User System)</a:t>
            </a:r>
            <a:r>
              <a:rPr lang="en-IN"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Processor: Dual-Core (Intel i3 / AMD equivalent or higher)</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RAM: 4 GB minimum (8 GB recommended for smooth usage)</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Storage: 50 GB free space</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Internet: Minimum 5 Mbps for IDE access and code execution</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578C432-0D02-EFA4-3400-491C0979642D}"/>
              </a:ext>
            </a:extLst>
          </p:cNvPr>
          <p:cNvGraphicFramePr>
            <a:graphicFrameLocks noGrp="1"/>
          </p:cNvGraphicFramePr>
          <p:nvPr>
            <p:extLst>
              <p:ext uri="{D42A27DB-BD31-4B8C-83A1-F6EECF244321}">
                <p14:modId xmlns:p14="http://schemas.microsoft.com/office/powerpoint/2010/main" val="3064220215"/>
              </p:ext>
            </p:extLst>
          </p:nvPr>
        </p:nvGraphicFramePr>
        <p:xfrm>
          <a:off x="457200" y="1058574"/>
          <a:ext cx="11353799" cy="5795354"/>
        </p:xfrm>
        <a:graphic>
          <a:graphicData uri="http://schemas.openxmlformats.org/drawingml/2006/table">
            <a:tbl>
              <a:tblPr firstRow="1" firstCol="1" bandRow="1">
                <a:tableStyleId>{5C22544A-7EE6-4342-B048-85BDC9FD1C3A}</a:tableStyleId>
              </a:tblPr>
              <a:tblGrid>
                <a:gridCol w="1621971">
                  <a:extLst>
                    <a:ext uri="{9D8B030D-6E8A-4147-A177-3AD203B41FA5}">
                      <a16:colId xmlns:a16="http://schemas.microsoft.com/office/drawing/2014/main" val="832038497"/>
                    </a:ext>
                  </a:extLst>
                </a:gridCol>
                <a:gridCol w="1365871">
                  <a:extLst>
                    <a:ext uri="{9D8B030D-6E8A-4147-A177-3AD203B41FA5}">
                      <a16:colId xmlns:a16="http://schemas.microsoft.com/office/drawing/2014/main" val="3214870930"/>
                    </a:ext>
                  </a:extLst>
                </a:gridCol>
                <a:gridCol w="768302">
                  <a:extLst>
                    <a:ext uri="{9D8B030D-6E8A-4147-A177-3AD203B41FA5}">
                      <a16:colId xmlns:a16="http://schemas.microsoft.com/office/drawing/2014/main" val="1523071208"/>
                    </a:ext>
                  </a:extLst>
                </a:gridCol>
                <a:gridCol w="2731741">
                  <a:extLst>
                    <a:ext uri="{9D8B030D-6E8A-4147-A177-3AD203B41FA5}">
                      <a16:colId xmlns:a16="http://schemas.microsoft.com/office/drawing/2014/main" val="2941212111"/>
                    </a:ext>
                  </a:extLst>
                </a:gridCol>
                <a:gridCol w="1024403">
                  <a:extLst>
                    <a:ext uri="{9D8B030D-6E8A-4147-A177-3AD203B41FA5}">
                      <a16:colId xmlns:a16="http://schemas.microsoft.com/office/drawing/2014/main" val="1624694365"/>
                    </a:ext>
                  </a:extLst>
                </a:gridCol>
                <a:gridCol w="2134173">
                  <a:extLst>
                    <a:ext uri="{9D8B030D-6E8A-4147-A177-3AD203B41FA5}">
                      <a16:colId xmlns:a16="http://schemas.microsoft.com/office/drawing/2014/main" val="3687740958"/>
                    </a:ext>
                  </a:extLst>
                </a:gridCol>
                <a:gridCol w="1707338">
                  <a:extLst>
                    <a:ext uri="{9D8B030D-6E8A-4147-A177-3AD203B41FA5}">
                      <a16:colId xmlns:a16="http://schemas.microsoft.com/office/drawing/2014/main" val="3000278368"/>
                    </a:ext>
                  </a:extLst>
                </a:gridCol>
              </a:tblGrid>
              <a:tr h="442848">
                <a:tc>
                  <a:txBody>
                    <a:bodyPr/>
                    <a:lstStyle/>
                    <a:p>
                      <a:pPr>
                        <a:lnSpc>
                          <a:spcPct val="115000"/>
                        </a:lnSpc>
                        <a:spcAft>
                          <a:spcPts val="1000"/>
                        </a:spcAft>
                        <a:buNone/>
                      </a:pPr>
                      <a:r>
                        <a:rPr lang="en-US" sz="1400" dirty="0">
                          <a:effectLst/>
                        </a:rPr>
                        <a:t>Paper Name</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Authors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Year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What the Paper Does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Algorithms Used</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How BugBuster is Better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Algorithms in BugBuster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val="729652613"/>
                  </a:ext>
                </a:extLst>
              </a:tr>
              <a:tr h="987965">
                <a:tc>
                  <a:txBody>
                    <a:bodyPr/>
                    <a:lstStyle/>
                    <a:p>
                      <a:pPr>
                        <a:lnSpc>
                          <a:spcPct val="115000"/>
                        </a:lnSpc>
                        <a:spcAft>
                          <a:spcPts val="1000"/>
                        </a:spcAft>
                        <a:buNone/>
                      </a:pPr>
                      <a:r>
                        <a:rPr lang="en-US" sz="1400" dirty="0">
                          <a:effectLst/>
                        </a:rPr>
                        <a:t>ChatDBG</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Kyla Levin et al.</a:t>
                      </a:r>
                      <a:br>
                        <a:rPr lang="en-IN" sz="1400" dirty="0">
                          <a:effectLst/>
                          <a:latin typeface="Cambria" panose="02040503050406030204" pitchFamily="18" charset="0"/>
                          <a:ea typeface="MS Mincho" panose="02020609040205080304" pitchFamily="49" charset="-128"/>
                          <a:cs typeface="Times New Roman" panose="02020603050405020304" pitchFamily="18" charset="0"/>
                        </a:rPr>
                      </a:br>
                      <a:br>
                        <a:rPr lang="en-IN" sz="1400" dirty="0">
                          <a:effectLst/>
                          <a:latin typeface="Cambria" panose="02040503050406030204" pitchFamily="18" charset="0"/>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2025</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Interactive debugging using LLMs with control over tools like GDB, LLDB.</a:t>
                      </a:r>
                      <a:br>
                        <a:rPr lang="en-IN" sz="1400" dirty="0">
                          <a:effectLst/>
                          <a:latin typeface="Cambria" panose="02040503050406030204" pitchFamily="18" charset="0"/>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LLM-powered interactive control</a:t>
                      </a:r>
                      <a:br>
                        <a:rPr lang="en-IN" sz="1400" dirty="0">
                          <a:effectLst/>
                          <a:latin typeface="Cambria" panose="02040503050406030204" pitchFamily="18" charset="0"/>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a:effectLst/>
                        </a:rPr>
                        <a:t>BugBuster</a:t>
                      </a:r>
                      <a:r>
                        <a:rPr lang="en-US" sz="1400" baseline="0" dirty="0">
                          <a:effectLst/>
                        </a:rPr>
                        <a:t> detects the errors and automatically fixes the errors in real time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Deepseek-coder model, RNN algorithm</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val="772412587"/>
                  </a:ext>
                </a:extLst>
              </a:tr>
              <a:tr h="1129236">
                <a:tc>
                  <a:txBody>
                    <a:bodyPr/>
                    <a:lstStyle/>
                    <a:p>
                      <a:pPr>
                        <a:lnSpc>
                          <a:spcPct val="115000"/>
                        </a:lnSpc>
                        <a:spcAft>
                          <a:spcPts val="1000"/>
                        </a:spcAft>
                        <a:buNone/>
                      </a:pPr>
                      <a:r>
                        <a:rPr lang="en-US" sz="1400" dirty="0">
                          <a:effectLst/>
                        </a:rPr>
                        <a:t>DeepCode AI Fix</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Berkay Berabi et al.</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2024</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Fixes security vulnerabilities using LLMs + static analysis and code reduction.</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LLMs, Static Analysis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Handles broader bug types, supports real-time multi-language debugging.</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GNNs, AST analysis, Transformer models, Codex, GPT, Isolation Forests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val="4294454680"/>
                  </a:ext>
                </a:extLst>
              </a:tr>
              <a:tr h="900440">
                <a:tc>
                  <a:txBody>
                    <a:bodyPr/>
                    <a:lstStyle/>
                    <a:p>
                      <a:pPr>
                        <a:lnSpc>
                          <a:spcPct val="115000"/>
                        </a:lnSpc>
                        <a:spcAft>
                          <a:spcPts val="1000"/>
                        </a:spcAft>
                        <a:buNone/>
                      </a:pPr>
                      <a:r>
                        <a:rPr lang="en-US" sz="1400" dirty="0">
                          <a:effectLst/>
                        </a:rPr>
                        <a:t>AI-enhanced Auto-correction of Programming Exercises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Imen Azaiz et al.</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2023</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Uses GPT-3.5 to give personalized feedback and auto-correct student code.</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GPT-3.5</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BugBuster covers full bug lifecycle, with real-time correction.</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Transformer models, RL, ML classifiers, program slicing</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val="940352422"/>
                  </a:ext>
                </a:extLst>
              </a:tr>
              <a:tr h="900440">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a:effectLst/>
                        </a:rPr>
                        <a:t>AI Code Review</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a:effectLst/>
                        </a:rPr>
                        <a:t>Yonatha Almeida et al.</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2024</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a:effectLst/>
                        </a:rPr>
                        <a:t>Enhances code review with GPT-3.5 plugin in IntelliJ to detect syntax/semantic issues.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a:effectLst/>
                        </a:rPr>
                        <a:t>GPT-3.5</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a:effectLst/>
                        </a:rPr>
                        <a:t>BugBuster automates error fixing and code generation, not just suggestions.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Seq2Seq, NMT, GenProg, SemFix, dynamic analysis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val="3247473384"/>
                  </a:ext>
                </a:extLst>
              </a:tr>
              <a:tr h="900440">
                <a:tc>
                  <a:txBody>
                    <a:bodyPr/>
                    <a:lstStyle/>
                    <a:p>
                      <a:pPr>
                        <a:lnSpc>
                          <a:spcPct val="115000"/>
                        </a:lnSpc>
                        <a:spcAft>
                          <a:spcPts val="1000"/>
                        </a:spcAft>
                        <a:buNone/>
                      </a:pPr>
                      <a:r>
                        <a:rPr lang="en-US" sz="1400" dirty="0">
                          <a:effectLst/>
                        </a:rPr>
                        <a:t>From Code to Correctness (MGDebugger)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Yuling Shi et al.</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2024</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Hierarchical debugging for LLM-generated code using MGDebugger.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Multi-Granularity Debugger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BugBuster performs debugging and also handles generation and correction.</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GenProg, Nopol, Deep Learning models, RL, test suites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val="951450467"/>
                  </a:ext>
                </a:extLst>
              </a:tr>
            </a:tbl>
          </a:graphicData>
        </a:graphic>
      </p:graphicFrame>
      <p:sp>
        <p:nvSpPr>
          <p:cNvPr id="2" name="TextBox 1">
            <a:extLst>
              <a:ext uri="{FF2B5EF4-FFF2-40B4-BE49-F238E27FC236}">
                <a16:creationId xmlns:a16="http://schemas.microsoft.com/office/drawing/2014/main" id="{C8E21638-BC9D-DAC2-836F-B10DA7256A74}"/>
              </a:ext>
            </a:extLst>
          </p:cNvPr>
          <p:cNvSpPr txBox="1"/>
          <p:nvPr/>
        </p:nvSpPr>
        <p:spPr>
          <a:xfrm>
            <a:off x="914400" y="240890"/>
            <a:ext cx="4114800" cy="553998"/>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272830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9BF33-93DD-C178-DEAB-2A8874BBE96B}"/>
              </a:ext>
            </a:extLst>
          </p:cNvPr>
          <p:cNvSpPr>
            <a:spLocks noGrp="1"/>
          </p:cNvSpPr>
          <p:nvPr>
            <p:ph type="title"/>
          </p:nvPr>
        </p:nvSpPr>
        <p:spPr>
          <a:xfrm>
            <a:off x="838200" y="365125"/>
            <a:ext cx="10515600" cy="549275"/>
          </a:xfrm>
        </p:spPr>
        <p:txBody>
          <a:bodyPr>
            <a:normAutofit/>
          </a:bodyPr>
          <a:lstStyle/>
          <a:p>
            <a:r>
              <a:rPr lang="en-IN" sz="3000" b="1" dirty="0">
                <a:latin typeface="Times New Roman" panose="02020603050405020304" pitchFamily="18" charset="0"/>
                <a:cs typeface="Times New Roman" panose="02020603050405020304" pitchFamily="18" charset="0"/>
              </a:rPr>
              <a:t>Design and Architecture</a:t>
            </a:r>
          </a:p>
        </p:txBody>
      </p:sp>
      <p:pic>
        <p:nvPicPr>
          <p:cNvPr id="5" name="Content Placeholder 4">
            <a:extLst>
              <a:ext uri="{FF2B5EF4-FFF2-40B4-BE49-F238E27FC236}">
                <a16:creationId xmlns:a16="http://schemas.microsoft.com/office/drawing/2014/main" id="{4086EEF0-425D-925F-2601-51AC716A04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52538"/>
            <a:ext cx="9982200" cy="4352925"/>
          </a:xfrm>
        </p:spPr>
      </p:pic>
    </p:spTree>
    <p:extLst>
      <p:ext uri="{BB962C8B-B14F-4D97-AF65-F5344CB8AC3E}">
        <p14:creationId xmlns:p14="http://schemas.microsoft.com/office/powerpoint/2010/main" val="359924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Flow Diagram</a:t>
            </a:r>
            <a:endParaRPr lang="en-IN" dirty="0"/>
          </a:p>
        </p:txBody>
      </p:sp>
      <p:sp>
        <p:nvSpPr>
          <p:cNvPr id="5" name="Rectangle 4"/>
          <p:cNvSpPr/>
          <p:nvPr/>
        </p:nvSpPr>
        <p:spPr>
          <a:xfrm>
            <a:off x="2209800" y="1828800"/>
            <a:ext cx="7162800" cy="426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6" name="Rectangle 5"/>
          <p:cNvSpPr/>
          <p:nvPr/>
        </p:nvSpPr>
        <p:spPr>
          <a:xfrm>
            <a:off x="2209800" y="1825625"/>
            <a:ext cx="7162800" cy="411797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1825625"/>
            <a:ext cx="7391400" cy="4351338"/>
          </a:xfrm>
        </p:spPr>
      </p:pic>
    </p:spTree>
    <p:extLst>
      <p:ext uri="{BB962C8B-B14F-4D97-AF65-F5344CB8AC3E}">
        <p14:creationId xmlns:p14="http://schemas.microsoft.com/office/powerpoint/2010/main" val="381759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A5AF4402-60A4-4E7A-7B29-7E9766D04A72}"/>
              </a:ext>
            </a:extLst>
          </p:cNvPr>
          <p:cNvSpPr txBox="1"/>
          <p:nvPr/>
        </p:nvSpPr>
        <p:spPr>
          <a:xfrm>
            <a:off x="457200" y="407473"/>
            <a:ext cx="10668000" cy="4730269"/>
          </a:xfrm>
          <a:prstGeom prst="rect">
            <a:avLst/>
          </a:prstGeom>
        </p:spPr>
        <p:txBody>
          <a:bodyPr vert="horz" wrap="square" lIns="0" tIns="12700" rIns="0" bIns="0" rtlCol="0">
            <a:spAutoFit/>
          </a:bodyPr>
          <a:lstStyle>
            <a:defPPr>
              <a:defRPr kern="0"/>
            </a:defPPr>
          </a:lstStyle>
          <a:p>
            <a:pPr marL="12700" marR="7356475" algn="just">
              <a:lnSpc>
                <a:spcPct val="138800"/>
              </a:lnSpc>
              <a:spcBef>
                <a:spcPts val="100"/>
              </a:spcBef>
              <a:tabLst>
                <a:tab pos="354965" algn="l"/>
              </a:tabLst>
            </a:pPr>
            <a:r>
              <a:rPr lang="en-IN" sz="2500" b="1" u="sng" spc="-5" dirty="0">
                <a:latin typeface="Times New Roman" panose="02020603050405020304" pitchFamily="18" charset="0"/>
                <a:cs typeface="Times New Roman" panose="02020603050405020304" pitchFamily="18" charset="0"/>
              </a:rPr>
              <a:t>Localization</a:t>
            </a:r>
            <a:r>
              <a:rPr lang="en-IN" sz="2500" b="1" u="sng" spc="5" dirty="0">
                <a:latin typeface="Times New Roman" panose="02020603050405020304" pitchFamily="18" charset="0"/>
                <a:cs typeface="Times New Roman" panose="02020603050405020304" pitchFamily="18" charset="0"/>
              </a:rPr>
              <a:t> </a:t>
            </a:r>
            <a:r>
              <a:rPr lang="en-IN" sz="2500" b="1" u="sng" dirty="0">
                <a:latin typeface="Times New Roman" panose="02020603050405020304" pitchFamily="18" charset="0"/>
                <a:cs typeface="Times New Roman" panose="02020603050405020304" pitchFamily="18" charset="0"/>
              </a:rPr>
              <a:t>Phase</a:t>
            </a:r>
          </a:p>
          <a:p>
            <a:pPr marL="12700" marR="7356475" algn="just">
              <a:lnSpc>
                <a:spcPct val="138800"/>
              </a:lnSpc>
              <a:spcBef>
                <a:spcPts val="100"/>
              </a:spcBef>
              <a:tabLst>
                <a:tab pos="354965" algn="l"/>
              </a:tabLst>
            </a:pPr>
            <a:r>
              <a:rPr lang="en-US" sz="2400" b="1" dirty="0">
                <a:latin typeface="Times New Roman" panose="02020603050405020304" pitchFamily="18" charset="0"/>
                <a:cs typeface="Times New Roman" panose="02020603050405020304" pitchFamily="18" charset="0"/>
              </a:rPr>
              <a:t>Fault</a:t>
            </a:r>
            <a:r>
              <a:rPr lang="en-US" sz="2400" b="1" spc="-15" dirty="0">
                <a:latin typeface="Times New Roman" panose="02020603050405020304" pitchFamily="18" charset="0"/>
                <a:cs typeface="Times New Roman" panose="02020603050405020304" pitchFamily="18" charset="0"/>
              </a:rPr>
              <a:t> </a:t>
            </a:r>
            <a:r>
              <a:rPr lang="en-US" sz="2400" b="1" spc="-5" dirty="0">
                <a:latin typeface="Times New Roman" panose="02020603050405020304" pitchFamily="18" charset="0"/>
                <a:cs typeface="Times New Roman" panose="02020603050405020304" pitchFamily="18" charset="0"/>
              </a:rPr>
              <a:t>Localization</a:t>
            </a:r>
          </a:p>
          <a:p>
            <a:pPr marL="298450" marR="7356475" indent="-285750" algn="just">
              <a:lnSpc>
                <a:spcPct val="138800"/>
              </a:lnSpc>
              <a:spcBef>
                <a:spcPts val="100"/>
              </a:spcBef>
              <a:buFont typeface="Arial" panose="020B0604020202020204" pitchFamily="34" charset="0"/>
              <a:buChar char="•"/>
              <a:tabLst>
                <a:tab pos="354965" algn="l"/>
              </a:tabLst>
            </a:pPr>
            <a:r>
              <a:rPr lang="en-IN" sz="2400" b="1" dirty="0">
                <a:latin typeface="Times New Roman" panose="02020603050405020304" pitchFamily="18" charset="0"/>
                <a:cs typeface="Times New Roman" panose="02020603050405020304" pitchFamily="18" charset="0"/>
              </a:rPr>
              <a:t>Syntax Analysis</a:t>
            </a:r>
          </a:p>
          <a:p>
            <a:r>
              <a:rPr lang="en-IN" sz="2800"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Lexer + Parser (AST Construction)</a:t>
            </a:r>
          </a:p>
          <a:p>
            <a:r>
              <a:rPr lang="en-IN" sz="2400" b="1" dirty="0">
                <a:latin typeface="Times New Roman" panose="02020603050405020304" pitchFamily="18" charset="0"/>
                <a:cs typeface="Times New Roman" panose="02020603050405020304" pitchFamily="18" charset="0"/>
              </a:rPr>
              <a:t>	Lexer</a:t>
            </a:r>
            <a:r>
              <a:rPr lang="en-IN" sz="2400" dirty="0">
                <a:latin typeface="Times New Roman" panose="02020603050405020304" pitchFamily="18" charset="0"/>
                <a:cs typeface="Times New Roman" panose="02020603050405020304" pitchFamily="18" charset="0"/>
              </a:rPr>
              <a:t>: Reads code letter by letter and splits it into </a:t>
            </a:r>
            <a:r>
              <a:rPr lang="en-IN" sz="2400" b="1" dirty="0">
                <a:latin typeface="Times New Roman" panose="02020603050405020304" pitchFamily="18" charset="0"/>
                <a:cs typeface="Times New Roman" panose="02020603050405020304" pitchFamily="18" charset="0"/>
              </a:rPr>
              <a:t>tokens</a:t>
            </a:r>
            <a:r>
              <a:rPr lang="en-IN" sz="2400" dirty="0">
                <a:latin typeface="Times New Roman" panose="02020603050405020304" pitchFamily="18" charset="0"/>
                <a:cs typeface="Times New Roman" panose="02020603050405020304" pitchFamily="18" charset="0"/>
              </a:rPr>
              <a:t> (keywords, operators, identifiers).</a:t>
            </a:r>
          </a:p>
          <a:p>
            <a:r>
              <a:rPr lang="en-IN" sz="2400" b="1" dirty="0">
                <a:latin typeface="Times New Roman" panose="02020603050405020304" pitchFamily="18" charset="0"/>
                <a:cs typeface="Times New Roman" panose="02020603050405020304" pitchFamily="18" charset="0"/>
              </a:rPr>
              <a:t>	Parser</a:t>
            </a:r>
            <a:r>
              <a:rPr lang="en-IN" sz="2400" dirty="0">
                <a:latin typeface="Times New Roman" panose="02020603050405020304" pitchFamily="18" charset="0"/>
                <a:cs typeface="Times New Roman" panose="02020603050405020304" pitchFamily="18" charset="0"/>
              </a:rPr>
              <a:t>: Uses those tokens to check if the code follows the grammar rules.</a:t>
            </a:r>
          </a:p>
          <a:p>
            <a:r>
              <a:rPr lang="en-IN" sz="2400" dirty="0">
                <a:latin typeface="Times New Roman" panose="02020603050405020304" pitchFamily="18" charset="0"/>
                <a:cs typeface="Times New Roman" panose="02020603050405020304" pitchFamily="18" charset="0"/>
              </a:rPr>
              <a:t>	Builds an </a:t>
            </a:r>
            <a:r>
              <a:rPr lang="en-IN" sz="2400" b="1" dirty="0">
                <a:latin typeface="Times New Roman" panose="02020603050405020304" pitchFamily="18" charset="0"/>
                <a:cs typeface="Times New Roman" panose="02020603050405020304" pitchFamily="18" charset="0"/>
              </a:rPr>
              <a:t>Abstract Syntax Tree (AST)</a:t>
            </a:r>
            <a:r>
              <a:rPr lang="en-IN" sz="2400" dirty="0">
                <a:latin typeface="Times New Roman" panose="02020603050405020304" pitchFamily="18" charset="0"/>
                <a:cs typeface="Times New Roman" panose="02020603050405020304" pitchFamily="18" charset="0"/>
              </a:rPr>
              <a:t> → a tree structure that shows the code’s structure.</a:t>
            </a:r>
          </a:p>
          <a:p>
            <a:r>
              <a:rPr lang="en-IN" sz="2400" dirty="0">
                <a:latin typeface="Times New Roman" panose="02020603050405020304" pitchFamily="18" charset="0"/>
                <a:cs typeface="Times New Roman" panose="02020603050405020304" pitchFamily="18" charset="0"/>
              </a:rPr>
              <a:t>	If rules are broken (e.g., missing semicolon, wrong bracket) → syntax error.</a:t>
            </a:r>
          </a:p>
          <a:p>
            <a:pPr marL="12700" marR="7356475" algn="just">
              <a:lnSpc>
                <a:spcPct val="138800"/>
              </a:lnSpc>
              <a:spcBef>
                <a:spcPts val="100"/>
              </a:spcBef>
              <a:tabLst>
                <a:tab pos="354965" algn="l"/>
              </a:tabLst>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9889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27B7B1-52C0-2C3D-E6A9-D9EDF91A8CAD}"/>
              </a:ext>
            </a:extLst>
          </p:cNvPr>
          <p:cNvSpPr>
            <a:spLocks noGrp="1"/>
          </p:cNvSpPr>
          <p:nvPr>
            <p:ph idx="1"/>
          </p:nvPr>
        </p:nvSpPr>
        <p:spPr>
          <a:xfrm>
            <a:off x="838200" y="914400"/>
            <a:ext cx="10515600" cy="5265119"/>
          </a:xfrm>
        </p:spPr>
        <p:txBody>
          <a:bodyPr>
            <a:normAutofit/>
          </a:bodyPr>
          <a:lstStyle/>
          <a:p>
            <a:r>
              <a:rPr lang="en-IN" sz="2400" b="1" u="sng" dirty="0">
                <a:latin typeface="Times New Roman" panose="02020603050405020304" pitchFamily="18" charset="0"/>
                <a:cs typeface="Times New Roman" panose="02020603050405020304" pitchFamily="18" charset="0"/>
              </a:rPr>
              <a:t>Semantic Analysis</a:t>
            </a:r>
          </a:p>
          <a:p>
            <a:pPr marL="914400" lvl="2" indent="0">
              <a:buNone/>
            </a:pPr>
            <a:endParaRPr lang="en-US" sz="2400" b="1" dirty="0">
              <a:latin typeface="Times New Roman" panose="02020603050405020304" pitchFamily="18" charset="0"/>
              <a:cs typeface="Times New Roman" panose="02020603050405020304" pitchFamily="18" charset="0"/>
            </a:endParaRPr>
          </a:p>
          <a:p>
            <a:pPr marL="914400" lvl="2" indent="0">
              <a:buNone/>
            </a:pPr>
            <a:r>
              <a:rPr lang="en-US" sz="2400" b="1" dirty="0">
                <a:latin typeface="Times New Roman" panose="02020603050405020304" pitchFamily="18" charset="0"/>
                <a:cs typeface="Times New Roman" panose="02020603050405020304" pitchFamily="18" charset="0"/>
              </a:rPr>
              <a:t>Dataflow Analysis and Type Checking</a:t>
            </a:r>
          </a:p>
          <a:p>
            <a:pPr marL="914400" lvl="2" indent="0">
              <a:buNone/>
            </a:pPr>
            <a:r>
              <a:rPr lang="en-US" sz="2400" b="1" dirty="0">
                <a:latin typeface="Times New Roman" panose="02020603050405020304" pitchFamily="18" charset="0"/>
                <a:cs typeface="Times New Roman" panose="02020603050405020304" pitchFamily="18" charset="0"/>
              </a:rPr>
              <a:t>Dataflow Analysis</a:t>
            </a:r>
            <a:r>
              <a:rPr lang="en-US" sz="2400" dirty="0">
                <a:latin typeface="Times New Roman" panose="02020603050405020304" pitchFamily="18" charset="0"/>
                <a:cs typeface="Times New Roman" panose="02020603050405020304" pitchFamily="18" charset="0"/>
              </a:rPr>
              <a:t> :Tracks data flow (e.g., variable definitions and uses) to detect issues like uninitialized variables. Builds a Control Flow Graph (CFG) to map program flow. </a:t>
            </a:r>
          </a:p>
          <a:p>
            <a:pPr marL="914400" lvl="2" indent="0">
              <a:buNone/>
            </a:pPr>
            <a:r>
              <a:rPr lang="en-US" sz="2400" b="1" dirty="0">
                <a:latin typeface="Times New Roman" panose="02020603050405020304" pitchFamily="18" charset="0"/>
                <a:cs typeface="Times New Roman" panose="02020603050405020304" pitchFamily="18" charset="0"/>
              </a:rPr>
              <a:t>Type Checking :</a:t>
            </a:r>
            <a:r>
              <a:rPr lang="en-US" sz="2400" dirty="0">
                <a:latin typeface="Times New Roman" panose="02020603050405020304" pitchFamily="18" charset="0"/>
                <a:cs typeface="Times New Roman" panose="02020603050405020304" pitchFamily="18" charset="0"/>
              </a:rPr>
              <a:t> Verifies type compatibility to catch type-related semantic errors. Constructs an Abstract Syntax Tree (AST) from parsed code. Traverses the AST to infer or check types based on language rules, reporting errors when operations or assignments involve incompatible types. </a:t>
            </a:r>
          </a:p>
          <a:p>
            <a:pPr marL="914400" lvl="2"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87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6A653-92D5-8D97-9FE7-E0E1771CF47C}"/>
              </a:ext>
            </a:extLst>
          </p:cNvPr>
          <p:cNvSpPr>
            <a:spLocks noGrp="1"/>
          </p:cNvSpPr>
          <p:nvPr>
            <p:ph idx="1"/>
          </p:nvPr>
        </p:nvSpPr>
        <p:spPr>
          <a:xfrm>
            <a:off x="304800" y="304800"/>
            <a:ext cx="11582400" cy="2438400"/>
          </a:xfrm>
        </p:spPr>
        <p:txBody>
          <a:bodyPr>
            <a:noAutofit/>
          </a:bodyPr>
          <a:lstStyle/>
          <a:p>
            <a:pPr algn="just">
              <a:lnSpc>
                <a:spcPct val="170000"/>
              </a:lnSpc>
            </a:pPr>
            <a:r>
              <a:rPr lang="en-IN" sz="1600" b="1" dirty="0">
                <a:latin typeface="Times New Roman" panose="02020603050405020304" pitchFamily="18" charset="0"/>
                <a:cs typeface="Times New Roman" panose="02020603050405020304" pitchFamily="18" charset="0"/>
              </a:rPr>
              <a:t>Logical analysis</a:t>
            </a:r>
          </a:p>
          <a:p>
            <a:pPr lvl="1" algn="just">
              <a:lnSpc>
                <a:spcPct val="170000"/>
              </a:lnSpc>
            </a:pPr>
            <a:r>
              <a:rPr lang="en-IN" sz="1600" b="1" dirty="0">
                <a:latin typeface="Times New Roman" panose="02020603050405020304" pitchFamily="18" charset="0"/>
                <a:cs typeface="Times New Roman" panose="02020603050405020304" pitchFamily="18" charset="0"/>
              </a:rPr>
              <a:t>Spectrum-Based Fault Localization (SBFL)	</a:t>
            </a:r>
          </a:p>
          <a:p>
            <a:pPr lvl="2" algn="just">
              <a:lnSpc>
                <a:spcPct val="170000"/>
              </a:lnSpc>
            </a:pPr>
            <a:r>
              <a:rPr lang="en-US" sz="1600" dirty="0">
                <a:latin typeface="Times New Roman" panose="02020603050405020304" pitchFamily="18" charset="0"/>
                <a:cs typeface="Times New Roman" panose="02020603050405020304" pitchFamily="18" charset="0"/>
              </a:rPr>
              <a:t>Spectrum-based fault localization (SBFL) is a technique that identifies the likely location of logical errors (bugs causing incorrect program behavior) by analyzing how code is executed across passing and failing test cases. It ranks code elements (e.g., lines or statements) based on their association with failures, helping developers pinpoint faults efficiently.</a:t>
            </a:r>
          </a:p>
          <a:p>
            <a:pPr marL="457200" lvl="1" indent="0" algn="just">
              <a:lnSpc>
                <a:spcPct val="170000"/>
              </a:lnSpc>
              <a:buNone/>
            </a:pPr>
            <a:endParaRPr lang="en-IN"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410AB83-96D6-ECE8-EC5E-ACA6DCAD9D65}"/>
                  </a:ext>
                </a:extLst>
              </p:cNvPr>
              <p:cNvSpPr txBox="1"/>
              <p:nvPr/>
            </p:nvSpPr>
            <p:spPr>
              <a:xfrm>
                <a:off x="609600" y="2819400"/>
                <a:ext cx="9372600" cy="2883482"/>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Step 1: Collect Test Outcomes</a:t>
                </a:r>
              </a:p>
              <a:p>
                <a:pPr algn="just"/>
                <a:r>
                  <a:rPr lang="en-IN" b="1" dirty="0">
                    <a:latin typeface="Times New Roman" panose="02020603050405020304" pitchFamily="18" charset="0"/>
                    <a:cs typeface="Times New Roman" panose="02020603050405020304" pitchFamily="18" charset="0"/>
                  </a:rPr>
                  <a:t>Step 2: Gather Code Coverage</a:t>
                </a:r>
              </a:p>
              <a:p>
                <a:pPr algn="just"/>
                <a:r>
                  <a:rPr lang="en-IN" b="1" dirty="0">
                    <a:latin typeface="Times New Roman" panose="02020603050405020304" pitchFamily="18" charset="0"/>
                    <a:cs typeface="Times New Roman" panose="02020603050405020304" pitchFamily="18" charset="0"/>
                  </a:rPr>
                  <a:t>Step 3: Compute Suspiciousness Scores</a:t>
                </a:r>
              </a:p>
              <a:p>
                <a:pPr algn="just"/>
                <a:endParaRPr lang="en-IN" b="1"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Apply a formula </a:t>
                </a:r>
                <a:r>
                  <a:rPr lang="en-IN" b="1" dirty="0">
                    <a:latin typeface="Times New Roman" panose="02020603050405020304" pitchFamily="18" charset="0"/>
                    <a:cs typeface="Times New Roman" panose="02020603050405020304" pitchFamily="18" charset="0"/>
                  </a:rPr>
                  <a:t>Tarantula</a:t>
                </a:r>
                <a:r>
                  <a:rPr lang="en-IN" dirty="0">
                    <a:latin typeface="Times New Roman" panose="02020603050405020304" pitchFamily="18" charset="0"/>
                    <a:cs typeface="Times New Roman" panose="02020603050405020304" pitchFamily="18" charset="0"/>
                  </a:rPr>
                  <a:t>:</a:t>
                </a:r>
              </a:p>
              <a:p>
                <a:pPr lvl="1"/>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𝑆𝑐𝑜𝑟𝑒</m:t>
                      </m:r>
                      <m:d>
                        <m:dPr>
                          <m:ctrlPr>
                            <a:rPr lang="ar-AE" i="1">
                              <a:latin typeface="Cambria Math" panose="02040503050406030204" pitchFamily="18" charset="0"/>
                            </a:rPr>
                          </m:ctrlPr>
                        </m:dPr>
                        <m:e>
                          <m:r>
                            <a:rPr lang="ar-AE" i="1">
                              <a:latin typeface="Cambria Math" panose="02040503050406030204" pitchFamily="18" charset="0"/>
                            </a:rPr>
                            <m:t>𝑙𝑖𝑛𝑒</m:t>
                          </m:r>
                        </m:e>
                      </m:d>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𝑓𝑎𝑖𝑙𝑒𝑑</m:t>
                          </m:r>
                          <m:r>
                            <m:rPr>
                              <m:lit/>
                            </m:rPr>
                            <a:rPr lang="ar-AE">
                              <a:latin typeface="Cambria Math" panose="02040503050406030204" pitchFamily="18" charset="0"/>
                            </a:rPr>
                            <m:t>_</m:t>
                          </m:r>
                          <m:r>
                            <a:rPr lang="ar-AE" i="1">
                              <a:latin typeface="Cambria Math" panose="02040503050406030204" pitchFamily="18" charset="0"/>
                            </a:rPr>
                            <m:t>𝑒𝑥𝑒𝑐</m:t>
                          </m:r>
                          <m:r>
                            <a:rPr lang="ar-AE">
                              <a:latin typeface="Cambria Math" panose="02040503050406030204" pitchFamily="18" charset="0"/>
                            </a:rPr>
                            <m:t>/</m:t>
                          </m:r>
                          <m:r>
                            <a:rPr lang="ar-AE" i="1">
                              <a:latin typeface="Cambria Math" panose="02040503050406030204" pitchFamily="18" charset="0"/>
                            </a:rPr>
                            <m:t>𝑡𝑜𝑡𝑎𝑙</m:t>
                          </m:r>
                          <m:r>
                            <m:rPr>
                              <m:lit/>
                            </m:rPr>
                            <a:rPr lang="ar-AE">
                              <a:latin typeface="Cambria Math" panose="02040503050406030204" pitchFamily="18" charset="0"/>
                            </a:rPr>
                            <m:t>_</m:t>
                          </m:r>
                          <m:r>
                            <a:rPr lang="ar-AE" i="1">
                              <a:latin typeface="Cambria Math" panose="02040503050406030204" pitchFamily="18" charset="0"/>
                            </a:rPr>
                            <m:t>𝑓𝑎𝑖𝑙𝑒𝑑</m:t>
                          </m:r>
                        </m:num>
                        <m:den>
                          <m:d>
                            <m:dPr>
                              <m:ctrlPr>
                                <a:rPr lang="ar-AE" i="1">
                                  <a:latin typeface="Cambria Math" panose="02040503050406030204" pitchFamily="18" charset="0"/>
                                </a:rPr>
                              </m:ctrlPr>
                            </m:dPr>
                            <m:e>
                              <m:r>
                                <a:rPr lang="ar-AE" i="1">
                                  <a:latin typeface="Cambria Math" panose="02040503050406030204" pitchFamily="18" charset="0"/>
                                </a:rPr>
                                <m:t>𝑓𝑎𝑖𝑙𝑒𝑑</m:t>
                              </m:r>
                              <m:r>
                                <m:rPr>
                                  <m:lit/>
                                </m:rPr>
                                <a:rPr lang="ar-AE">
                                  <a:latin typeface="Cambria Math" panose="02040503050406030204" pitchFamily="18" charset="0"/>
                                </a:rPr>
                                <m:t>_</m:t>
                              </m:r>
                              <m:r>
                                <a:rPr lang="ar-AE" i="1">
                                  <a:latin typeface="Cambria Math" panose="02040503050406030204" pitchFamily="18" charset="0"/>
                                </a:rPr>
                                <m:t>𝑒𝑥𝑒𝑐</m:t>
                              </m:r>
                              <m:r>
                                <a:rPr lang="ar-AE">
                                  <a:latin typeface="Cambria Math" panose="02040503050406030204" pitchFamily="18" charset="0"/>
                                </a:rPr>
                                <m:t>/</m:t>
                              </m:r>
                              <m:r>
                                <a:rPr lang="ar-AE" i="1">
                                  <a:latin typeface="Cambria Math" panose="02040503050406030204" pitchFamily="18" charset="0"/>
                                </a:rPr>
                                <m:t>𝑡𝑜𝑡𝑎𝑙</m:t>
                              </m:r>
                              <m:r>
                                <m:rPr>
                                  <m:lit/>
                                </m:rPr>
                                <a:rPr lang="ar-AE">
                                  <a:latin typeface="Cambria Math" panose="02040503050406030204" pitchFamily="18" charset="0"/>
                                </a:rPr>
                                <m:t>_</m:t>
                              </m:r>
                              <m:r>
                                <a:rPr lang="ar-AE" i="1">
                                  <a:latin typeface="Cambria Math" panose="02040503050406030204" pitchFamily="18" charset="0"/>
                                </a:rPr>
                                <m:t>𝑓𝑎𝑖𝑙𝑒𝑑</m:t>
                              </m:r>
                            </m:e>
                          </m:d>
                          <m:r>
                            <a:rPr lang="ar-AE">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𝑝𝑎𝑠𝑠𝑒𝑑</m:t>
                              </m:r>
                              <m:r>
                                <m:rPr>
                                  <m:lit/>
                                </m:rPr>
                                <a:rPr lang="ar-AE">
                                  <a:latin typeface="Cambria Math" panose="02040503050406030204" pitchFamily="18" charset="0"/>
                                </a:rPr>
                                <m:t>_</m:t>
                              </m:r>
                              <m:r>
                                <a:rPr lang="ar-AE" i="1">
                                  <a:latin typeface="Cambria Math" panose="02040503050406030204" pitchFamily="18" charset="0"/>
                                </a:rPr>
                                <m:t>𝑒𝑥𝑒𝑐</m:t>
                              </m:r>
                              <m:r>
                                <a:rPr lang="ar-AE">
                                  <a:latin typeface="Cambria Math" panose="02040503050406030204" pitchFamily="18" charset="0"/>
                                </a:rPr>
                                <m:t>/</m:t>
                              </m:r>
                              <m:r>
                                <a:rPr lang="ar-AE" i="1">
                                  <a:latin typeface="Cambria Math" panose="02040503050406030204" pitchFamily="18" charset="0"/>
                                </a:rPr>
                                <m:t>𝑡𝑜𝑡𝑎𝑙</m:t>
                              </m:r>
                              <m:r>
                                <m:rPr>
                                  <m:lit/>
                                </m:rPr>
                                <a:rPr lang="ar-AE">
                                  <a:latin typeface="Cambria Math" panose="02040503050406030204" pitchFamily="18" charset="0"/>
                                </a:rPr>
                                <m:t>_</m:t>
                              </m:r>
                              <m:r>
                                <a:rPr lang="ar-AE" i="1">
                                  <a:latin typeface="Cambria Math" panose="02040503050406030204" pitchFamily="18" charset="0"/>
                                </a:rPr>
                                <m:t>𝑝𝑎𝑠𝑠𝑒𝑑</m:t>
                              </m:r>
                            </m:e>
                          </m:d>
                        </m:den>
                      </m:f>
                    </m:oMath>
                  </m:oMathPara>
                </a14:m>
                <a:endParaRPr lang="en-IN" b="1" dirty="0">
                  <a:latin typeface="Times New Roman" panose="02020603050405020304" pitchFamily="18" charset="0"/>
                  <a:cs typeface="Times New Roman" panose="02020603050405020304" pitchFamily="18" charset="0"/>
                </a:endParaRPr>
              </a:p>
              <a:p>
                <a:pPr marL="0" lvl="1" algn="just"/>
                <a:r>
                  <a:rPr lang="en-IN" b="1" dirty="0">
                    <a:latin typeface="Times New Roman" panose="02020603050405020304" pitchFamily="18" charset="0"/>
                    <a:cs typeface="Times New Roman" panose="02020603050405020304" pitchFamily="18" charset="0"/>
                  </a:rPr>
                  <a:t>Step 4: Rank and Report</a:t>
                </a:r>
              </a:p>
              <a:p>
                <a:pPr algn="just"/>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 xmlns:a16="http://schemas.microsoft.com/office/drawing/2014/main" id="{2410AB83-96D6-ECE8-EC5E-ACA6DCAD9D65}"/>
                  </a:ext>
                </a:extLst>
              </p:cNvPr>
              <p:cNvSpPr txBox="1">
                <a:spLocks noRot="1" noChangeAspect="1" noMove="1" noResize="1" noEditPoints="1" noAdjustHandles="1" noChangeArrowheads="1" noChangeShapeType="1" noTextEdit="1"/>
              </p:cNvSpPr>
              <p:nvPr/>
            </p:nvSpPr>
            <p:spPr>
              <a:xfrm>
                <a:off x="609600" y="2819400"/>
                <a:ext cx="9372600" cy="2883482"/>
              </a:xfrm>
              <a:prstGeom prst="rect">
                <a:avLst/>
              </a:prstGeom>
              <a:blipFill rotWithShape="0">
                <a:blip r:embed="rId2"/>
                <a:stretch>
                  <a:fillRect l="-520" t="-1268"/>
                </a:stretch>
              </a:blipFill>
            </p:spPr>
            <p:txBody>
              <a:bodyPr/>
              <a:lstStyle/>
              <a:p>
                <a:r>
                  <a:rPr lang="en-IN">
                    <a:noFill/>
                  </a:rPr>
                  <a:t> </a:t>
                </a:r>
              </a:p>
            </p:txBody>
          </p:sp>
        </mc:Fallback>
      </mc:AlternateContent>
    </p:spTree>
    <p:extLst>
      <p:ext uri="{BB962C8B-B14F-4D97-AF65-F5344CB8AC3E}">
        <p14:creationId xmlns:p14="http://schemas.microsoft.com/office/powerpoint/2010/main" val="376012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220BF-43D4-9D9C-0B5F-F6C4E5BC9735}"/>
              </a:ext>
            </a:extLst>
          </p:cNvPr>
          <p:cNvSpPr>
            <a:spLocks noGrp="1"/>
          </p:cNvSpPr>
          <p:nvPr>
            <p:ph type="title"/>
          </p:nvPr>
        </p:nvSpPr>
        <p:spPr>
          <a:xfrm>
            <a:off x="838200" y="76201"/>
            <a:ext cx="10515600" cy="533400"/>
          </a:xfrm>
        </p:spPr>
        <p:txBody>
          <a:bodyPr>
            <a:normAutofit/>
          </a:bodyPr>
          <a:lstStyle/>
          <a:p>
            <a:r>
              <a:rPr lang="en-IN" sz="2500" b="1" u="sng" dirty="0">
                <a:latin typeface="Times New Roman" panose="02020603050405020304" pitchFamily="18" charset="0"/>
                <a:cs typeface="Times New Roman" panose="02020603050405020304" pitchFamily="18" charset="0"/>
              </a:rPr>
              <a:t>Repair phase</a:t>
            </a:r>
          </a:p>
        </p:txBody>
      </p:sp>
      <p:sp>
        <p:nvSpPr>
          <p:cNvPr id="3" name="Content Placeholder 2">
            <a:extLst>
              <a:ext uri="{FF2B5EF4-FFF2-40B4-BE49-F238E27FC236}">
                <a16:creationId xmlns:a16="http://schemas.microsoft.com/office/drawing/2014/main" id="{B3730004-5DA4-6803-F8C7-97D37CCFE525}"/>
              </a:ext>
            </a:extLst>
          </p:cNvPr>
          <p:cNvSpPr>
            <a:spLocks noGrp="1"/>
          </p:cNvSpPr>
          <p:nvPr>
            <p:ph idx="1"/>
          </p:nvPr>
        </p:nvSpPr>
        <p:spPr>
          <a:xfrm>
            <a:off x="838200" y="609601"/>
            <a:ext cx="10515600" cy="1523999"/>
          </a:xfrm>
        </p:spPr>
        <p:txBody>
          <a:bodyPr>
            <a:noAutofit/>
          </a:bodyPr>
          <a:lstStyle/>
          <a:p>
            <a:r>
              <a:rPr lang="en-IN" sz="2400" b="1" dirty="0">
                <a:latin typeface="Times New Roman" panose="02020603050405020304" pitchFamily="18" charset="0"/>
                <a:cs typeface="Times New Roman" panose="02020603050405020304" pitchFamily="18" charset="0"/>
              </a:rPr>
              <a:t>Repair strategy</a:t>
            </a:r>
          </a:p>
          <a:p>
            <a:pPr marL="457200" lvl="1" indent="0" algn="just">
              <a:buNone/>
            </a:pPr>
            <a:r>
              <a:rPr lang="en-US" dirty="0">
                <a:latin typeface="Times New Roman" panose="02020603050405020304" pitchFamily="18" charset="0"/>
                <a:cs typeface="Times New Roman" panose="02020603050405020304" pitchFamily="18" charset="0"/>
              </a:rPr>
              <a:t>A repair strategy is the systematic approach used to fix the suspicious code flagged during fault localization. It decides how to modify the faulty lines, tests the modifications, and selects the one that produces correct results.</a:t>
            </a:r>
          </a:p>
          <a:p>
            <a:pPr marL="457200" lvl="1" indent="0" algn="just">
              <a:buNone/>
            </a:pPr>
            <a:endParaRPr lang="en-US" sz="2800" dirty="0">
              <a:latin typeface="Times New Roman" panose="02020603050405020304" pitchFamily="18" charset="0"/>
              <a:cs typeface="Times New Roman" panose="02020603050405020304" pitchFamily="18" charset="0"/>
            </a:endParaRPr>
          </a:p>
          <a:p>
            <a:pPr marL="457200" lvl="1" indent="0" algn="just">
              <a:buNone/>
            </a:pPr>
            <a:endParaRPr lang="en-US" sz="2800" dirty="0">
              <a:latin typeface="Times New Roman" panose="02020603050405020304" pitchFamily="18" charset="0"/>
              <a:cs typeface="Times New Roman" panose="02020603050405020304" pitchFamily="18" charset="0"/>
            </a:endParaRPr>
          </a:p>
          <a:p>
            <a:pPr marL="457200" lvl="1" indent="0" algn="just">
              <a:buNone/>
            </a:pPr>
            <a:endParaRPr lang="en-IN" sz="28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BD99672E-EEB3-36BF-B306-40A29F2324EA}"/>
              </a:ext>
            </a:extLst>
          </p:cNvPr>
          <p:cNvGraphicFramePr>
            <a:graphicFrameLocks noGrp="1"/>
          </p:cNvGraphicFramePr>
          <p:nvPr>
            <p:extLst>
              <p:ext uri="{D42A27DB-BD31-4B8C-83A1-F6EECF244321}">
                <p14:modId xmlns:p14="http://schemas.microsoft.com/office/powerpoint/2010/main" val="3323015408"/>
              </p:ext>
            </p:extLst>
          </p:nvPr>
        </p:nvGraphicFramePr>
        <p:xfrm>
          <a:off x="685800" y="2819400"/>
          <a:ext cx="11049000" cy="3200400"/>
        </p:xfrm>
        <a:graphic>
          <a:graphicData uri="http://schemas.openxmlformats.org/drawingml/2006/table">
            <a:tbl>
              <a:tblPr>
                <a:tableStyleId>{69CF1AB2-1976-4502-BF36-3FF5EA218861}</a:tableStyleId>
              </a:tblPr>
              <a:tblGrid>
                <a:gridCol w="2133600">
                  <a:extLst>
                    <a:ext uri="{9D8B030D-6E8A-4147-A177-3AD203B41FA5}">
                      <a16:colId xmlns:a16="http://schemas.microsoft.com/office/drawing/2014/main" val="636038885"/>
                    </a:ext>
                  </a:extLst>
                </a:gridCol>
                <a:gridCol w="4191000">
                  <a:extLst>
                    <a:ext uri="{9D8B030D-6E8A-4147-A177-3AD203B41FA5}">
                      <a16:colId xmlns:a16="http://schemas.microsoft.com/office/drawing/2014/main" val="3075083805"/>
                    </a:ext>
                  </a:extLst>
                </a:gridCol>
                <a:gridCol w="4724400">
                  <a:extLst>
                    <a:ext uri="{9D8B030D-6E8A-4147-A177-3AD203B41FA5}">
                      <a16:colId xmlns:a16="http://schemas.microsoft.com/office/drawing/2014/main" val="870645577"/>
                    </a:ext>
                  </a:extLst>
                </a:gridCol>
              </a:tblGrid>
              <a:tr h="0">
                <a:tc>
                  <a:txBody>
                    <a:bodyPr/>
                    <a:lstStyle/>
                    <a:p>
                      <a:pPr>
                        <a:buNone/>
                      </a:pPr>
                      <a:r>
                        <a:rPr lang="en-IN" dirty="0"/>
                        <a:t>Strategy Type</a:t>
                      </a:r>
                    </a:p>
                  </a:txBody>
                  <a:tcPr anchor="ctr"/>
                </a:tc>
                <a:tc>
                  <a:txBody>
                    <a:bodyPr/>
                    <a:lstStyle/>
                    <a:p>
                      <a:pPr>
                        <a:buNone/>
                      </a:pPr>
                      <a:r>
                        <a:rPr lang="en-IN" dirty="0"/>
                        <a:t>How it works</a:t>
                      </a:r>
                    </a:p>
                  </a:txBody>
                  <a:tcPr anchor="ctr"/>
                </a:tc>
                <a:tc>
                  <a:txBody>
                    <a:bodyPr/>
                    <a:lstStyle/>
                    <a:p>
                      <a:pPr>
                        <a:buNone/>
                      </a:pPr>
                      <a:r>
                        <a:rPr lang="en-IN" dirty="0"/>
                        <a:t>Example</a:t>
                      </a:r>
                    </a:p>
                  </a:txBody>
                  <a:tcPr anchor="ctr"/>
                </a:tc>
                <a:extLst>
                  <a:ext uri="{0D108BD9-81ED-4DB2-BD59-A6C34878D82A}">
                    <a16:rowId xmlns:a16="http://schemas.microsoft.com/office/drawing/2014/main" val="885298067"/>
                  </a:ext>
                </a:extLst>
              </a:tr>
              <a:tr h="0">
                <a:tc>
                  <a:txBody>
                    <a:bodyPr/>
                    <a:lstStyle/>
                    <a:p>
                      <a:pPr>
                        <a:buNone/>
                      </a:pPr>
                      <a:r>
                        <a:rPr lang="en-IN" b="1" dirty="0"/>
                        <a:t>Pattern-based</a:t>
                      </a:r>
                      <a:endParaRPr lang="en-IN" dirty="0"/>
                    </a:p>
                  </a:txBody>
                  <a:tcPr anchor="ctr"/>
                </a:tc>
                <a:tc>
                  <a:txBody>
                    <a:bodyPr/>
                    <a:lstStyle/>
                    <a:p>
                      <a:pPr>
                        <a:buNone/>
                      </a:pPr>
                      <a:r>
                        <a:rPr lang="en-US" dirty="0"/>
                        <a:t>Uses </a:t>
                      </a:r>
                      <a:r>
                        <a:rPr lang="en-US" b="1" dirty="0"/>
                        <a:t>predefined fix patterns</a:t>
                      </a:r>
                      <a:r>
                        <a:rPr lang="en-US" dirty="0"/>
                        <a:t> from previous bugs.</a:t>
                      </a:r>
                    </a:p>
                  </a:txBody>
                  <a:tcPr anchor="ctr"/>
                </a:tc>
                <a:tc>
                  <a:txBody>
                    <a:bodyPr/>
                    <a:lstStyle/>
                    <a:p>
                      <a:pPr>
                        <a:buNone/>
                      </a:pPr>
                      <a:r>
                        <a:rPr lang="en-US" dirty="0"/>
                        <a:t>Replace == with != for conditional checks, or change i &lt;= n to i &lt; n to fix off-by-one errors.</a:t>
                      </a:r>
                    </a:p>
                  </a:txBody>
                  <a:tcPr anchor="ctr"/>
                </a:tc>
                <a:extLst>
                  <a:ext uri="{0D108BD9-81ED-4DB2-BD59-A6C34878D82A}">
                    <a16:rowId xmlns:a16="http://schemas.microsoft.com/office/drawing/2014/main" val="4182898452"/>
                  </a:ext>
                </a:extLst>
              </a:tr>
              <a:tr h="0">
                <a:tc>
                  <a:txBody>
                    <a:bodyPr/>
                    <a:lstStyle/>
                    <a:p>
                      <a:pPr>
                        <a:buNone/>
                      </a:pPr>
                      <a:r>
                        <a:rPr lang="en-IN" b="1" dirty="0"/>
                        <a:t>Search-based</a:t>
                      </a:r>
                      <a:endParaRPr lang="en-IN" dirty="0"/>
                    </a:p>
                  </a:txBody>
                  <a:tcPr anchor="ctr"/>
                </a:tc>
                <a:tc>
                  <a:txBody>
                    <a:bodyPr/>
                    <a:lstStyle/>
                    <a:p>
                      <a:pPr>
                        <a:buNone/>
                      </a:pPr>
                      <a:r>
                        <a:rPr lang="en-US" dirty="0"/>
                        <a:t>Systematically </a:t>
                      </a:r>
                      <a:r>
                        <a:rPr lang="en-US" b="1" dirty="0"/>
                        <a:t>tries multiple edits</a:t>
                      </a:r>
                      <a:r>
                        <a:rPr lang="en-US" dirty="0"/>
                        <a:t> using rules or algorithms.</a:t>
                      </a:r>
                    </a:p>
                  </a:txBody>
                  <a:tcPr anchor="ctr"/>
                </a:tc>
                <a:tc>
                  <a:txBody>
                    <a:bodyPr/>
                    <a:lstStyle/>
                    <a:p>
                      <a:pPr>
                        <a:buNone/>
                      </a:pPr>
                      <a:r>
                        <a:rPr lang="en-US" dirty="0"/>
                        <a:t>Swap operators, change variables, insert/remove statements, then test each candidate.</a:t>
                      </a:r>
                    </a:p>
                  </a:txBody>
                  <a:tcPr anchor="ctr"/>
                </a:tc>
                <a:extLst>
                  <a:ext uri="{0D108BD9-81ED-4DB2-BD59-A6C34878D82A}">
                    <a16:rowId xmlns:a16="http://schemas.microsoft.com/office/drawing/2014/main" val="3005718606"/>
                  </a:ext>
                </a:extLst>
              </a:tr>
              <a:tr h="0">
                <a:tc>
                  <a:txBody>
                    <a:bodyPr/>
                    <a:lstStyle/>
                    <a:p>
                      <a:pPr>
                        <a:buNone/>
                      </a:pPr>
                      <a:r>
                        <a:rPr lang="en-IN" b="1" dirty="0"/>
                        <a:t>AI-based (ML/LLM)</a:t>
                      </a:r>
                      <a:endParaRPr lang="en-IN" dirty="0"/>
                    </a:p>
                  </a:txBody>
                  <a:tcPr anchor="ctr"/>
                </a:tc>
                <a:tc>
                  <a:txBody>
                    <a:bodyPr/>
                    <a:lstStyle/>
                    <a:p>
                      <a:pPr>
                        <a:buNone/>
                      </a:pPr>
                      <a:r>
                        <a:rPr lang="en-US" dirty="0"/>
                        <a:t>Uses </a:t>
                      </a:r>
                      <a:r>
                        <a:rPr lang="en-US" b="1" dirty="0"/>
                        <a:t>machine learning or language models</a:t>
                      </a:r>
                      <a:r>
                        <a:rPr lang="en-US" dirty="0"/>
                        <a:t> to predict the correct code.</a:t>
                      </a:r>
                    </a:p>
                  </a:txBody>
                  <a:tcPr anchor="ctr"/>
                </a:tc>
                <a:tc>
                  <a:txBody>
                    <a:bodyPr/>
                    <a:lstStyle/>
                    <a:p>
                      <a:pPr>
                        <a:buNone/>
                      </a:pPr>
                      <a:r>
                        <a:rPr lang="en-US" dirty="0"/>
                        <a:t>LLM suggests the next line or replacement for the buggy line based on learned code patterns.</a:t>
                      </a:r>
                    </a:p>
                  </a:txBody>
                  <a:tcPr anchor="ctr"/>
                </a:tc>
                <a:extLst>
                  <a:ext uri="{0D108BD9-81ED-4DB2-BD59-A6C34878D82A}">
                    <a16:rowId xmlns:a16="http://schemas.microsoft.com/office/drawing/2014/main" val="2161627645"/>
                  </a:ext>
                </a:extLst>
              </a:tr>
              <a:tr h="0">
                <a:tc>
                  <a:txBody>
                    <a:bodyPr/>
                    <a:lstStyle/>
                    <a:p>
                      <a:pPr>
                        <a:buNone/>
                      </a:pPr>
                      <a:r>
                        <a:rPr lang="en-IN" b="1" dirty="0"/>
                        <a:t>Semantic-based</a:t>
                      </a:r>
                      <a:endParaRPr lang="en-IN" dirty="0"/>
                    </a:p>
                  </a:txBody>
                  <a:tcPr anchor="ctr"/>
                </a:tc>
                <a:tc>
                  <a:txBody>
                    <a:bodyPr/>
                    <a:lstStyle/>
                    <a:p>
                      <a:pPr>
                        <a:buNone/>
                      </a:pPr>
                      <a:r>
                        <a:rPr lang="en-US" dirty="0"/>
                        <a:t>Uses </a:t>
                      </a:r>
                      <a:r>
                        <a:rPr lang="en-US" b="1" dirty="0"/>
                        <a:t>program semantics</a:t>
                      </a:r>
                      <a:r>
                        <a:rPr lang="en-US" dirty="0"/>
                        <a:t>, like data flow, type checking, or constraints, to generate meaningful fixes.</a:t>
                      </a:r>
                    </a:p>
                  </a:txBody>
                  <a:tcPr anchor="ctr"/>
                </a:tc>
                <a:tc>
                  <a:txBody>
                    <a:bodyPr/>
                    <a:lstStyle/>
                    <a:p>
                      <a:pPr>
                        <a:buNone/>
                      </a:pPr>
                      <a:r>
                        <a:rPr lang="en-US" dirty="0"/>
                        <a:t>Ensure that a variable is not null before use; adjust loops based on program invariants.</a:t>
                      </a:r>
                    </a:p>
                  </a:txBody>
                  <a:tcPr anchor="ctr"/>
                </a:tc>
                <a:extLst>
                  <a:ext uri="{0D108BD9-81ED-4DB2-BD59-A6C34878D82A}">
                    <a16:rowId xmlns:a16="http://schemas.microsoft.com/office/drawing/2014/main" val="3835241013"/>
                  </a:ext>
                </a:extLst>
              </a:tr>
            </a:tbl>
          </a:graphicData>
        </a:graphic>
      </p:graphicFrame>
    </p:spTree>
    <p:extLst>
      <p:ext uri="{BB962C8B-B14F-4D97-AF65-F5344CB8AC3E}">
        <p14:creationId xmlns:p14="http://schemas.microsoft.com/office/powerpoint/2010/main" val="3747217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2ED3E79-B9BA-5A13-DFB7-259C5373593B}"/>
              </a:ext>
            </a:extLst>
          </p:cNvPr>
          <p:cNvSpPr txBox="1"/>
          <p:nvPr/>
        </p:nvSpPr>
        <p:spPr>
          <a:xfrm>
            <a:off x="643759" y="1832521"/>
            <a:ext cx="11125200" cy="230832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                                                                            </a:t>
            </a: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a:t>
            </a:r>
          </a:p>
        </p:txBody>
      </p:sp>
      <p:pic>
        <p:nvPicPr>
          <p:cNvPr id="4" name="Picture 3"/>
          <p:cNvPicPr>
            <a:picLocks noChangeAspect="1"/>
          </p:cNvPicPr>
          <p:nvPr/>
        </p:nvPicPr>
        <p:blipFill>
          <a:blip r:embed="rId2"/>
          <a:stretch>
            <a:fillRect/>
          </a:stretch>
        </p:blipFill>
        <p:spPr>
          <a:xfrm>
            <a:off x="1219200" y="914401"/>
            <a:ext cx="9753600" cy="4876800"/>
          </a:xfrm>
          <a:prstGeom prst="rect">
            <a:avLst/>
          </a:prstGeom>
        </p:spPr>
      </p:pic>
    </p:spTree>
    <p:extLst>
      <p:ext uri="{BB962C8B-B14F-4D97-AF65-F5344CB8AC3E}">
        <p14:creationId xmlns:p14="http://schemas.microsoft.com/office/powerpoint/2010/main" val="1233669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219200" y="609600"/>
            <a:ext cx="9753600" cy="5525294"/>
          </a:xfrm>
          <a:prstGeom prst="rect">
            <a:avLst/>
          </a:prstGeom>
        </p:spPr>
      </p:pic>
    </p:spTree>
    <p:extLst>
      <p:ext uri="{BB962C8B-B14F-4D97-AF65-F5344CB8AC3E}">
        <p14:creationId xmlns:p14="http://schemas.microsoft.com/office/powerpoint/2010/main" val="3348434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10896600" cy="5719763"/>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a:t>
            </a:r>
          </a:p>
        </p:txBody>
      </p:sp>
      <p:pic>
        <p:nvPicPr>
          <p:cNvPr id="4" name="Picture 3"/>
          <p:cNvPicPr>
            <a:picLocks noChangeAspect="1"/>
          </p:cNvPicPr>
          <p:nvPr/>
        </p:nvPicPr>
        <p:blipFill>
          <a:blip r:embed="rId2"/>
          <a:stretch>
            <a:fillRect/>
          </a:stretch>
        </p:blipFill>
        <p:spPr>
          <a:xfrm>
            <a:off x="1219200" y="1066800"/>
            <a:ext cx="9753600" cy="4876800"/>
          </a:xfrm>
          <a:prstGeom prst="rect">
            <a:avLst/>
          </a:prstGeom>
        </p:spPr>
      </p:pic>
    </p:spTree>
    <p:extLst>
      <p:ext uri="{BB962C8B-B14F-4D97-AF65-F5344CB8AC3E}">
        <p14:creationId xmlns:p14="http://schemas.microsoft.com/office/powerpoint/2010/main" val="552700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04900" y="914400"/>
            <a:ext cx="9753600" cy="4724400"/>
          </a:xfrm>
          <a:prstGeom prst="rect">
            <a:avLst/>
          </a:prstGeom>
        </p:spPr>
      </p:pic>
    </p:spTree>
    <p:extLst>
      <p:ext uri="{BB962C8B-B14F-4D97-AF65-F5344CB8AC3E}">
        <p14:creationId xmlns:p14="http://schemas.microsoft.com/office/powerpoint/2010/main" val="1049909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623D0-1D6A-1FD8-7D7D-3A0252A9FFC7}"/>
              </a:ext>
            </a:extLst>
          </p:cNvPr>
          <p:cNvSpPr>
            <a:spLocks noGrp="1"/>
          </p:cNvSpPr>
          <p:nvPr>
            <p:ph type="title"/>
          </p:nvPr>
        </p:nvSpPr>
        <p:spPr>
          <a:xfrm>
            <a:off x="838200" y="152401"/>
            <a:ext cx="10515600" cy="411049"/>
          </a:xfrm>
        </p:spPr>
        <p:txBody>
          <a:bodyPr>
            <a:normAutofit fontScale="90000"/>
          </a:bodyPr>
          <a:lstStyle/>
          <a:p>
            <a:r>
              <a:rPr lang="en-IN" sz="2500" b="1" u="sng" dirty="0">
                <a:latin typeface="Times New Roman" panose="02020603050405020304" pitchFamily="18" charset="0"/>
                <a:cs typeface="Times New Roman" panose="02020603050405020304" pitchFamily="18" charset="0"/>
              </a:rPr>
              <a:t>Test suite</a:t>
            </a:r>
          </a:p>
        </p:txBody>
      </p:sp>
      <p:sp>
        <p:nvSpPr>
          <p:cNvPr id="3" name="Content Placeholder 2">
            <a:extLst>
              <a:ext uri="{FF2B5EF4-FFF2-40B4-BE49-F238E27FC236}">
                <a16:creationId xmlns:a16="http://schemas.microsoft.com/office/drawing/2014/main" id="{2A8D8D90-FBC9-2E7C-7273-C2A74D3DC71C}"/>
              </a:ext>
            </a:extLst>
          </p:cNvPr>
          <p:cNvSpPr>
            <a:spLocks noGrp="1"/>
          </p:cNvSpPr>
          <p:nvPr>
            <p:ph idx="1"/>
          </p:nvPr>
        </p:nvSpPr>
        <p:spPr>
          <a:xfrm>
            <a:off x="762000" y="701675"/>
            <a:ext cx="10515600" cy="2651125"/>
          </a:xfrm>
        </p:spPr>
        <p:txBody>
          <a:bodyPr>
            <a:noAutofit/>
          </a:bodyPr>
          <a:lstStyle/>
          <a:p>
            <a:r>
              <a:rPr lang="en-US" sz="2400" b="1" dirty="0">
                <a:latin typeface="Times New Roman" panose="02020603050405020304" pitchFamily="18" charset="0"/>
                <a:cs typeface="Times New Roman" panose="02020603050405020304" pitchFamily="18" charset="0"/>
              </a:rPr>
              <a:t>Purpose:</a:t>
            </a:r>
            <a:r>
              <a:rPr lang="en-US" sz="2400" dirty="0">
                <a:latin typeface="Times New Roman" panose="02020603050405020304" pitchFamily="18" charset="0"/>
                <a:cs typeface="Times New Roman" panose="02020603050405020304" pitchFamily="18" charset="0"/>
              </a:rPr>
              <a:t> The test suite contains all the test cases that the program must pass.</a:t>
            </a:r>
          </a:p>
          <a:p>
            <a:r>
              <a:rPr lang="en-US" sz="2400" b="1" dirty="0">
                <a:latin typeface="Times New Roman" panose="02020603050405020304" pitchFamily="18" charset="0"/>
                <a:cs typeface="Times New Roman" panose="02020603050405020304" pitchFamily="18" charset="0"/>
              </a:rPr>
              <a:t>Function:</a:t>
            </a:r>
            <a:r>
              <a:rPr lang="en-US" sz="2400" dirty="0">
                <a:latin typeface="Times New Roman" panose="02020603050405020304" pitchFamily="18" charset="0"/>
                <a:cs typeface="Times New Roman" panose="02020603050405020304" pitchFamily="18" charset="0"/>
              </a:rPr>
              <a:t> It is used to validate candidate patches generated for the buggy code.</a:t>
            </a:r>
          </a:p>
          <a:p>
            <a:r>
              <a:rPr lang="en-US" sz="2400" b="1" dirty="0">
                <a:latin typeface="Times New Roman" panose="02020603050405020304" pitchFamily="18" charset="0"/>
                <a:cs typeface="Times New Roman" panose="02020603050405020304" pitchFamily="18" charset="0"/>
              </a:rPr>
              <a:t>How it works:</a:t>
            </a:r>
            <a:endParaRPr lang="en-US" sz="2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The repair system applies potential fixes to the suspicious code.</a:t>
            </a:r>
          </a:p>
          <a:p>
            <a:pPr lvl="1"/>
            <a:r>
              <a:rPr lang="en-US" dirty="0">
                <a:latin typeface="Times New Roman" panose="02020603050405020304" pitchFamily="18" charset="0"/>
                <a:cs typeface="Times New Roman" panose="02020603050405020304" pitchFamily="18" charset="0"/>
              </a:rPr>
              <a:t>Each candidate fix is tested against the </a:t>
            </a:r>
            <a:r>
              <a:rPr lang="en-US" b="1" dirty="0">
                <a:latin typeface="Times New Roman" panose="02020603050405020304" pitchFamily="18" charset="0"/>
                <a:cs typeface="Times New Roman" panose="02020603050405020304" pitchFamily="18" charset="0"/>
              </a:rPr>
              <a:t>test suite</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Only patches that pass the required tests are considered valid.</a:t>
            </a:r>
          </a:p>
          <a:p>
            <a:r>
              <a:rPr lang="en-US" sz="2400" b="1" dirty="0">
                <a:latin typeface="Times New Roman" panose="02020603050405020304" pitchFamily="18" charset="0"/>
                <a:cs typeface="Times New Roman" panose="02020603050405020304" pitchFamily="18" charset="0"/>
              </a:rPr>
              <a:t>Goal:</a:t>
            </a:r>
            <a:r>
              <a:rPr lang="en-US" sz="2400" dirty="0">
                <a:latin typeface="Times New Roman" panose="02020603050405020304" pitchFamily="18" charset="0"/>
                <a:cs typeface="Times New Roman" panose="02020603050405020304" pitchFamily="18" charset="0"/>
              </a:rPr>
              <a:t> Ensure that the patch fixes the bug without introducing new errors.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413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138921-D9D4-3AFF-C02A-BB7DDA4A05DF}"/>
              </a:ext>
            </a:extLst>
          </p:cNvPr>
          <p:cNvSpPr>
            <a:spLocks noGrp="1"/>
          </p:cNvSpPr>
          <p:nvPr>
            <p:ph idx="1"/>
          </p:nvPr>
        </p:nvSpPr>
        <p:spPr>
          <a:xfrm>
            <a:off x="381000" y="304800"/>
            <a:ext cx="10972800" cy="5872163"/>
          </a:xfrm>
        </p:spPr>
        <p:txBody>
          <a:bodyPr>
            <a:normAutofit/>
          </a:bodyPr>
          <a:lstStyle/>
          <a:p>
            <a:pPr marL="0" indent="0">
              <a:lnSpc>
                <a:spcPct val="100000"/>
              </a:lnSpc>
              <a:spcBef>
                <a:spcPts val="100"/>
              </a:spcBef>
              <a:buNone/>
            </a:pPr>
            <a:r>
              <a:rPr lang="en-GB" b="1" dirty="0">
                <a:latin typeface="Times New Roman" panose="02020603050405020304" pitchFamily="18" charset="0"/>
                <a:cs typeface="Times New Roman" panose="02020603050405020304" pitchFamily="18" charset="0"/>
              </a:rPr>
              <a:t>Verification Phase</a:t>
            </a:r>
          </a:p>
          <a:p>
            <a:pPr marL="0" indent="0">
              <a:lnSpc>
                <a:spcPct val="150000"/>
              </a:lnSpc>
              <a:spcBef>
                <a:spcPts val="100"/>
              </a:spcBef>
              <a:buNone/>
            </a:pPr>
            <a:endParaRPr lang="en-GB" sz="2400" dirty="0">
              <a:latin typeface="Times New Roman" panose="02020603050405020304" pitchFamily="18" charset="0"/>
              <a:cs typeface="Times New Roman" panose="02020603050405020304" pitchFamily="18" charset="0"/>
            </a:endParaRPr>
          </a:p>
          <a:p>
            <a:pPr marL="12700">
              <a:lnSpc>
                <a:spcPct val="150000"/>
              </a:lnSpc>
              <a:spcBef>
                <a:spcPts val="100"/>
              </a:spcBef>
            </a:pPr>
            <a:r>
              <a:rPr lang="en-GB" sz="2400" dirty="0">
                <a:latin typeface="Times New Roman" panose="02020603050405020304" pitchFamily="18" charset="0"/>
                <a:cs typeface="Times New Roman" panose="02020603050405020304" pitchFamily="18" charset="0"/>
              </a:rPr>
              <a:t>After patch generation, each candidate patch is tested against the program’s test suite.</a:t>
            </a:r>
          </a:p>
          <a:p>
            <a:pPr marL="12700">
              <a:lnSpc>
                <a:spcPct val="150000"/>
              </a:lnSpc>
              <a:spcBef>
                <a:spcPts val="100"/>
              </a:spcBef>
            </a:pPr>
            <a:r>
              <a:rPr lang="en-GB" sz="2400" dirty="0">
                <a:latin typeface="Times New Roman" panose="02020603050405020304" pitchFamily="18" charset="0"/>
                <a:cs typeface="Times New Roman" panose="02020603050405020304" pitchFamily="18" charset="0"/>
              </a:rPr>
              <a:t>Steps involved:</a:t>
            </a:r>
          </a:p>
          <a:p>
            <a:pPr marL="0"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1. Run failing test cases.</a:t>
            </a:r>
          </a:p>
          <a:p>
            <a:pPr marL="0"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2. Run regression tests</a:t>
            </a:r>
          </a:p>
          <a:p>
            <a:pPr marL="0"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3. Patch validation.</a:t>
            </a:r>
          </a:p>
          <a:p>
            <a:pPr marL="0"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4. Patch selection.</a:t>
            </a:r>
          </a:p>
          <a:p>
            <a:pPr marL="12700">
              <a:lnSpc>
                <a:spcPct val="150000"/>
              </a:lnSpc>
              <a:spcBef>
                <a:spcPts val="100"/>
              </a:spcBef>
            </a:pPr>
            <a:endParaRPr lang="en-GB" sz="2000" dirty="0">
              <a:latin typeface="Times New Roman" panose="02020603050405020304" pitchFamily="18" charset="0"/>
              <a:cs typeface="Times New Roman" panose="02020603050405020304" pitchFamily="18" charset="0"/>
            </a:endParaRPr>
          </a:p>
          <a:p>
            <a:pPr marL="0" indent="0">
              <a:lnSpc>
                <a:spcPct val="150000"/>
              </a:lnSpc>
              <a:buNone/>
            </a:pPr>
            <a:endParaRPr lang="en-IN" sz="2000" dirty="0"/>
          </a:p>
        </p:txBody>
      </p:sp>
    </p:spTree>
    <p:extLst>
      <p:ext uri="{BB962C8B-B14F-4D97-AF65-F5344CB8AC3E}">
        <p14:creationId xmlns:p14="http://schemas.microsoft.com/office/powerpoint/2010/main" val="4244592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D676D4-1DC8-3136-A84C-6E89D475EF29}"/>
              </a:ext>
            </a:extLst>
          </p:cNvPr>
          <p:cNvSpPr>
            <a:spLocks noGrp="1"/>
          </p:cNvSpPr>
          <p:nvPr>
            <p:ph idx="1"/>
          </p:nvPr>
        </p:nvSpPr>
        <p:spPr>
          <a:xfrm>
            <a:off x="457200" y="457200"/>
            <a:ext cx="10896600" cy="5719763"/>
          </a:xfrm>
        </p:spPr>
        <p:txBody>
          <a:bodyPr/>
          <a:lstStyle/>
          <a:p>
            <a:pPr marL="12700" lvl="5" indent="0">
              <a:spcBef>
                <a:spcPts val="100"/>
              </a:spcBef>
              <a:buNone/>
            </a:pPr>
            <a:r>
              <a:rPr lang="en-GB" sz="2800" b="1" dirty="0">
                <a:latin typeface="Times New Roman" panose="02020603050405020304" pitchFamily="18" charset="0"/>
                <a:cs typeface="Times New Roman" panose="02020603050405020304" pitchFamily="18" charset="0"/>
              </a:rPr>
              <a:t>Deployment </a:t>
            </a:r>
          </a:p>
          <a:p>
            <a:pPr marL="12700" lvl="5">
              <a:spcBef>
                <a:spcPts val="100"/>
              </a:spcBef>
            </a:pPr>
            <a:endParaRPr lang="en-GB" sz="1600" dirty="0">
              <a:latin typeface="Times New Roman" panose="02020603050405020304" pitchFamily="18" charset="0"/>
              <a:cs typeface="Times New Roman" panose="02020603050405020304" pitchFamily="18" charset="0"/>
            </a:endParaRPr>
          </a:p>
          <a:p>
            <a:pPr marL="12700" lvl="5">
              <a:spcBef>
                <a:spcPts val="100"/>
              </a:spcBef>
            </a:pPr>
            <a:r>
              <a:rPr lang="en-GB" sz="2400" dirty="0">
                <a:latin typeface="Times New Roman" panose="02020603050405020304" pitchFamily="18" charset="0"/>
                <a:cs typeface="Times New Roman" panose="02020603050405020304" pitchFamily="18" charset="0"/>
              </a:rPr>
              <a:t>After verification, the final validated patch is ready to be deployed into the main program.</a:t>
            </a:r>
          </a:p>
          <a:p>
            <a:pPr marL="12700" lvl="5">
              <a:spcBef>
                <a:spcPts val="100"/>
              </a:spcBef>
            </a:pPr>
            <a:endParaRPr lang="en-GB" sz="2400" dirty="0">
              <a:latin typeface="Times New Roman" panose="02020603050405020304" pitchFamily="18" charset="0"/>
              <a:cs typeface="Times New Roman" panose="02020603050405020304" pitchFamily="18" charset="0"/>
            </a:endParaRPr>
          </a:p>
          <a:p>
            <a:pPr marL="12700" lvl="5">
              <a:lnSpc>
                <a:spcPct val="150000"/>
              </a:lnSpc>
              <a:spcBef>
                <a:spcPts val="100"/>
              </a:spcBef>
            </a:pPr>
            <a:r>
              <a:rPr lang="en-GB" sz="2400" dirty="0">
                <a:latin typeface="Times New Roman" panose="02020603050405020304" pitchFamily="18" charset="0"/>
                <a:cs typeface="Times New Roman" panose="02020603050405020304" pitchFamily="18" charset="0"/>
              </a:rPr>
              <a:t>Steps in Deployment:</a:t>
            </a:r>
          </a:p>
          <a:p>
            <a:pPr marL="0" lvl="5"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1. Patch Integration.</a:t>
            </a:r>
          </a:p>
          <a:p>
            <a:pPr marL="0" lvl="5"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2. Build &amp; Compile</a:t>
            </a:r>
          </a:p>
          <a:p>
            <a:pPr marL="0" lvl="5"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3. Final Testing .	</a:t>
            </a:r>
            <a:endParaRPr lang="en-IN" sz="2800" dirty="0">
              <a:latin typeface="Times New Roman" panose="02020603050405020304" pitchFamily="18" charset="0"/>
              <a:cs typeface="Times New Roman" panose="02020603050405020304" pitchFamily="18" charset="0"/>
            </a:endParaRPr>
          </a:p>
          <a:p>
            <a:pPr marL="0" indent="0">
              <a:lnSpc>
                <a:spcPct val="150000"/>
              </a:lnSpc>
              <a:buNone/>
            </a:pPr>
            <a:endParaRPr lang="en-IN" sz="4000" dirty="0"/>
          </a:p>
        </p:txBody>
      </p:sp>
    </p:spTree>
    <p:extLst>
      <p:ext uri="{BB962C8B-B14F-4D97-AF65-F5344CB8AC3E}">
        <p14:creationId xmlns:p14="http://schemas.microsoft.com/office/powerpoint/2010/main" val="2473239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1006475"/>
          </a:xfrm>
        </p:spPr>
        <p:txBody>
          <a:bodyPr/>
          <a:lstStyle/>
          <a:p>
            <a:r>
              <a:rPr lang="en-GB" dirty="0"/>
              <a:t>IMPLEMENTATION </a:t>
            </a:r>
            <a:endParaRPr lang="en-IN" dirty="0"/>
          </a:p>
        </p:txBody>
      </p:sp>
      <p:sp>
        <p:nvSpPr>
          <p:cNvPr id="6" name="Content Placeholder 5"/>
          <p:cNvSpPr>
            <a:spLocks noGrp="1"/>
          </p:cNvSpPr>
          <p:nvPr>
            <p:ph idx="1"/>
          </p:nvPr>
        </p:nvSpPr>
        <p:spPr>
          <a:xfrm>
            <a:off x="685800" y="1338943"/>
            <a:ext cx="10515600" cy="4351338"/>
          </a:xfrm>
        </p:spPr>
        <p:txBody>
          <a:bodyPr>
            <a:normAutofit fontScale="77500" lnSpcReduction="20000"/>
          </a:bodyPr>
          <a:lstStyle/>
          <a:p>
            <a:pPr marL="0" indent="0">
              <a:buNone/>
            </a:pPr>
            <a:r>
              <a:rPr lang="en-IN" b="1" dirty="0"/>
              <a:t>1. Frontend Implementation</a:t>
            </a:r>
          </a:p>
          <a:p>
            <a:pPr marL="0" indent="0">
              <a:buNone/>
            </a:pPr>
            <a:r>
              <a:rPr lang="en-IN" dirty="0"/>
              <a:t>The frontend is implemented as a responsive, browser-based IDE that enables users to create, edit, run, and debug code across multiple programming languages.</a:t>
            </a:r>
          </a:p>
          <a:p>
            <a:pPr marL="0" indent="0">
              <a:buNone/>
            </a:pPr>
            <a:r>
              <a:rPr lang="en-IN" dirty="0"/>
              <a:t>Technologies</a:t>
            </a:r>
          </a:p>
          <a:p>
            <a:r>
              <a:rPr lang="en-IN" dirty="0"/>
              <a:t>React.js</a:t>
            </a:r>
          </a:p>
          <a:p>
            <a:r>
              <a:rPr lang="en-IN" dirty="0"/>
              <a:t>Monaco Editor (VS-Code compatible)</a:t>
            </a:r>
          </a:p>
          <a:p>
            <a:r>
              <a:rPr lang="en-IN" dirty="0"/>
              <a:t>TailwindCSS</a:t>
            </a:r>
          </a:p>
          <a:p>
            <a:r>
              <a:rPr lang="en-IN" dirty="0"/>
              <a:t>Features</a:t>
            </a:r>
          </a:p>
          <a:p>
            <a:pPr>
              <a:buFont typeface="+mj-lt"/>
              <a:buAutoNum type="arabicPeriod"/>
            </a:pPr>
            <a:r>
              <a:rPr lang="en-IN" b="1" dirty="0"/>
              <a:t>File Management Panel</a:t>
            </a:r>
            <a:br>
              <a:rPr lang="en-IN" dirty="0"/>
            </a:br>
            <a:r>
              <a:rPr lang="en-IN" dirty="0"/>
              <a:t>Users can create, rename, delete, and switch between files.</a:t>
            </a:r>
          </a:p>
          <a:p>
            <a:pPr>
              <a:buFont typeface="+mj-lt"/>
              <a:buAutoNum type="arabicPeriod"/>
            </a:pPr>
            <a:r>
              <a:rPr lang="en-IN" b="1" dirty="0"/>
              <a:t>Code Editor Panel</a:t>
            </a:r>
            <a:br>
              <a:rPr lang="en-IN" dirty="0"/>
            </a:br>
            <a:r>
              <a:rPr lang="en-IN" dirty="0"/>
              <a:t>Implements syntax highlighting, formatting, and multi-language support (C, C++, Python, Java, JavaScript, C#, etc.).</a:t>
            </a:r>
          </a:p>
          <a:p>
            <a:endParaRPr lang="en-IN" dirty="0"/>
          </a:p>
        </p:txBody>
      </p:sp>
    </p:spTree>
    <p:extLst>
      <p:ext uri="{BB962C8B-B14F-4D97-AF65-F5344CB8AC3E}">
        <p14:creationId xmlns:p14="http://schemas.microsoft.com/office/powerpoint/2010/main" val="1450054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10515600" cy="6019800"/>
          </a:xfrm>
        </p:spPr>
        <p:txBody>
          <a:bodyPr>
            <a:noAutofit/>
          </a:bodyPr>
          <a:lstStyle/>
          <a:p>
            <a:pPr marL="0" indent="0">
              <a:lnSpc>
                <a:spcPct val="120000"/>
              </a:lnSpc>
              <a:buNone/>
            </a:pPr>
            <a:r>
              <a:rPr lang="en-IN" sz="2400" b="1" dirty="0">
                <a:latin typeface="Times New Roman" panose="02020603050405020304" pitchFamily="18" charset="0"/>
                <a:cs typeface="Times New Roman" panose="02020603050405020304" pitchFamily="18" charset="0"/>
              </a:rPr>
              <a:t>3. User Interface Controls</a:t>
            </a:r>
            <a:endParaRPr lang="en-IN" sz="2400" dirty="0">
              <a:latin typeface="Times New Roman" panose="02020603050405020304" pitchFamily="18" charset="0"/>
              <a:cs typeface="Times New Roman" panose="02020603050405020304" pitchFamily="18" charset="0"/>
            </a:endParaRP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Theme switching (Dark/Light)</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AutoCorrect toggle (ON/OFF)</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Language selection</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Run button for execution</a:t>
            </a:r>
          </a:p>
          <a:p>
            <a:pPr marL="0" indent="0">
              <a:lnSpc>
                <a:spcPct val="120000"/>
              </a:lnSpc>
              <a:buNone/>
            </a:pPr>
            <a:r>
              <a:rPr lang="en-IN" sz="2400" b="1" dirty="0">
                <a:latin typeface="Times New Roman" panose="02020603050405020304" pitchFamily="18" charset="0"/>
                <a:cs typeface="Times New Roman" panose="02020603050405020304" pitchFamily="18" charset="0"/>
              </a:rPr>
              <a:t>4. Output and Messages Panel</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Displays:</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Program output</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Runtime errors</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AI suggestions</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Execution logs</a:t>
            </a:r>
          </a:p>
          <a:p>
            <a:pPr>
              <a:lnSpc>
                <a:spcPct val="120000"/>
              </a:lnSpc>
            </a:pPr>
            <a:r>
              <a:rPr lang="en-IN" sz="2400" dirty="0">
                <a:latin typeface="Times New Roman" panose="02020603050405020304" pitchFamily="18" charset="0"/>
                <a:cs typeface="Times New Roman" panose="02020603050405020304" pitchFamily="18" charset="0"/>
              </a:rPr>
              <a:t>The frontend communicates with the backend through REST APIs exposed by FastAPI.</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7676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0"/>
            <a:ext cx="10515600" cy="5029200"/>
          </a:xfrm>
        </p:spPr>
        <p:txBody>
          <a:bodyPr>
            <a:normAutofit/>
          </a:bodyPr>
          <a:lstStyle/>
          <a:p>
            <a:r>
              <a:rPr lang="en-GB" b="1" dirty="0"/>
              <a:t>Backend Implementation</a:t>
            </a:r>
          </a:p>
          <a:p>
            <a:pPr marL="0" indent="0">
              <a:buNone/>
            </a:pPr>
            <a:r>
              <a:rPr lang="en-GB" dirty="0"/>
              <a:t>The backend is built using </a:t>
            </a:r>
            <a:r>
              <a:rPr lang="en-GB" b="1" dirty="0"/>
              <a:t>FastAPI</a:t>
            </a:r>
            <a:r>
              <a:rPr lang="en-GB" dirty="0"/>
              <a:t>, providing high-speed asynchronous processing of user requests.</a:t>
            </a:r>
          </a:p>
          <a:p>
            <a:r>
              <a:rPr lang="en-GB" b="1" dirty="0"/>
              <a:t>Responsibilities</a:t>
            </a:r>
          </a:p>
          <a:p>
            <a:pPr>
              <a:buFont typeface="Wingdings" panose="05000000000000000000" pitchFamily="2" charset="2"/>
              <a:buChar char="Ø"/>
            </a:pPr>
            <a:r>
              <a:rPr lang="en-GB" dirty="0"/>
              <a:t>Receive source code from the frontend</a:t>
            </a:r>
          </a:p>
          <a:p>
            <a:pPr>
              <a:buFont typeface="Wingdings" panose="05000000000000000000" pitchFamily="2" charset="2"/>
              <a:buChar char="Ø"/>
            </a:pPr>
            <a:r>
              <a:rPr lang="en-GB" dirty="0"/>
              <a:t>Identify language and execution mode</a:t>
            </a:r>
          </a:p>
          <a:p>
            <a:pPr>
              <a:buFont typeface="Wingdings" panose="05000000000000000000" pitchFamily="2" charset="2"/>
              <a:buChar char="Ø"/>
            </a:pPr>
            <a:r>
              <a:rPr lang="en-GB" dirty="0"/>
              <a:t>Check AutoCorrect toggle status</a:t>
            </a:r>
          </a:p>
          <a:p>
            <a:pPr>
              <a:buFont typeface="Wingdings" panose="05000000000000000000" pitchFamily="2" charset="2"/>
              <a:buChar char="Ø"/>
            </a:pPr>
            <a:r>
              <a:rPr lang="en-GB" dirty="0"/>
              <a:t>Manage model inference (DeepSeek-Coder 1.3B)</a:t>
            </a:r>
          </a:p>
          <a:p>
            <a:pPr>
              <a:buFont typeface="Wingdings" panose="05000000000000000000" pitchFamily="2" charset="2"/>
              <a:buChar char="Ø"/>
            </a:pPr>
            <a:r>
              <a:rPr lang="en-GB" dirty="0"/>
              <a:t>Initiate execution pipeline through Docker</a:t>
            </a:r>
          </a:p>
          <a:p>
            <a:pPr>
              <a:buFont typeface="Wingdings" panose="05000000000000000000" pitchFamily="2" charset="2"/>
              <a:buChar char="Ø"/>
            </a:pPr>
            <a:r>
              <a:rPr lang="en-GB" dirty="0"/>
              <a:t>Collect output and return response</a:t>
            </a:r>
          </a:p>
          <a:p>
            <a:endParaRPr lang="en-IN" dirty="0"/>
          </a:p>
        </p:txBody>
      </p:sp>
    </p:spTree>
    <p:extLst>
      <p:ext uri="{BB962C8B-B14F-4D97-AF65-F5344CB8AC3E}">
        <p14:creationId xmlns:p14="http://schemas.microsoft.com/office/powerpoint/2010/main" val="3279270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10896600" cy="5795963"/>
          </a:xfrm>
        </p:spPr>
        <p:txBody>
          <a:bodyPr>
            <a:normAutofit lnSpcReduction="10000"/>
          </a:bodyPr>
          <a:lstStyle/>
          <a:p>
            <a:r>
              <a:rPr lang="en-GB" b="1" dirty="0"/>
              <a:t>AI-Assisted Error Detection &amp; Correction</a:t>
            </a:r>
          </a:p>
          <a:p>
            <a:pPr marL="0" indent="0">
              <a:buNone/>
            </a:pPr>
            <a:r>
              <a:rPr lang="en-GB" dirty="0"/>
              <a:t>Bug Buster integrates the </a:t>
            </a:r>
            <a:r>
              <a:rPr lang="en-GB" b="1" dirty="0"/>
              <a:t>Deepseek-Coder 1.3B model</a:t>
            </a:r>
            <a:r>
              <a:rPr lang="en-GB" dirty="0"/>
              <a:t> to enable automated syntax and semantic correction.</a:t>
            </a:r>
          </a:p>
          <a:p>
            <a:pPr marL="0" indent="0">
              <a:buNone/>
            </a:pPr>
            <a:r>
              <a:rPr lang="en-GB" b="1" dirty="0"/>
              <a:t>Workflow</a:t>
            </a:r>
          </a:p>
          <a:p>
            <a:pPr marL="0" indent="0">
              <a:buNone/>
            </a:pPr>
            <a:r>
              <a:rPr lang="en-GB" dirty="0"/>
              <a:t>When AutoCorrect is </a:t>
            </a:r>
            <a:r>
              <a:rPr lang="en-GB" b="1" dirty="0"/>
              <a:t>ON</a:t>
            </a:r>
            <a:r>
              <a:rPr lang="en-GB" dirty="0"/>
              <a:t>:</a:t>
            </a:r>
          </a:p>
          <a:p>
            <a:pPr>
              <a:buFont typeface="Wingdings" panose="05000000000000000000" pitchFamily="2" charset="2"/>
              <a:buChar char="Ø"/>
            </a:pPr>
            <a:r>
              <a:rPr lang="en-GB" dirty="0"/>
              <a:t>Code is sent to inference module</a:t>
            </a:r>
          </a:p>
          <a:p>
            <a:pPr>
              <a:buFont typeface="Wingdings" panose="05000000000000000000" pitchFamily="2" charset="2"/>
              <a:buChar char="Ø"/>
            </a:pPr>
            <a:r>
              <a:rPr lang="en-GB" dirty="0"/>
              <a:t>Model performs:</a:t>
            </a:r>
          </a:p>
          <a:p>
            <a:pPr lvl="1"/>
            <a:r>
              <a:rPr lang="en-GB" dirty="0"/>
              <a:t>Syntax parsing</a:t>
            </a:r>
          </a:p>
          <a:p>
            <a:pPr lvl="1"/>
            <a:r>
              <a:rPr lang="en-GB" dirty="0"/>
              <a:t>Semantic validation</a:t>
            </a:r>
          </a:p>
          <a:p>
            <a:pPr lvl="1"/>
            <a:r>
              <a:rPr lang="en-GB" dirty="0"/>
              <a:t>Logical reasoning</a:t>
            </a:r>
          </a:p>
          <a:p>
            <a:pPr lvl="1"/>
            <a:r>
              <a:rPr lang="en-GB" dirty="0"/>
              <a:t>Patch generation</a:t>
            </a:r>
          </a:p>
          <a:p>
            <a:pPr>
              <a:buFont typeface="Wingdings" panose="05000000000000000000" pitchFamily="2" charset="2"/>
              <a:buChar char="Ø"/>
            </a:pPr>
            <a:r>
              <a:rPr lang="en-GB" dirty="0"/>
              <a:t>The corrected code is returned to backend</a:t>
            </a:r>
          </a:p>
          <a:p>
            <a:pPr>
              <a:buFont typeface="Wingdings" panose="05000000000000000000" pitchFamily="2" charset="2"/>
              <a:buChar char="Ø"/>
            </a:pPr>
            <a:r>
              <a:rPr lang="en-GB" dirty="0"/>
              <a:t>The corrected code replaces original source temporarily</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4085200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10668000" cy="5867400"/>
          </a:xfrm>
        </p:spPr>
        <p:txBody>
          <a:bodyPr>
            <a:normAutofit/>
          </a:bodyPr>
          <a:lstStyle/>
          <a:p>
            <a:r>
              <a:rPr lang="en-IN" sz="2400" dirty="0">
                <a:latin typeface="Times New Roman" panose="02020603050405020304" pitchFamily="18" charset="0"/>
                <a:cs typeface="Times New Roman" panose="02020603050405020304" pitchFamily="18" charset="0"/>
              </a:rPr>
              <a:t>Execution Environment</a:t>
            </a:r>
          </a:p>
          <a:p>
            <a:pPr marL="0" indent="0">
              <a:buNone/>
            </a:pPr>
            <a:r>
              <a:rPr lang="en-GB" sz="2400" dirty="0">
                <a:latin typeface="Times New Roman" panose="02020603050405020304" pitchFamily="18" charset="0"/>
                <a:cs typeface="Times New Roman" panose="02020603050405020304" pitchFamily="18" charset="0"/>
              </a:rPr>
              <a:t>To ensure secure, deterministic, and isolated execution of user code, BugBuster uses </a:t>
            </a:r>
            <a:r>
              <a:rPr lang="en-GB" sz="2400" b="1" dirty="0">
                <a:latin typeface="Times New Roman" panose="02020603050405020304" pitchFamily="18" charset="0"/>
                <a:cs typeface="Times New Roman" panose="02020603050405020304" pitchFamily="18" charset="0"/>
              </a:rPr>
              <a:t>Docker containers</a:t>
            </a:r>
            <a:r>
              <a:rPr lang="en-GB" sz="2400" dirty="0">
                <a:latin typeface="Times New Roman" panose="02020603050405020304" pitchFamily="18" charset="0"/>
                <a:cs typeface="Times New Roman" panose="02020603050405020304" pitchFamily="18" charset="0"/>
              </a:rPr>
              <a:t>.</a:t>
            </a:r>
          </a:p>
          <a:p>
            <a:pPr marL="0" indent="0">
              <a:buNone/>
            </a:pPr>
            <a:r>
              <a:rPr lang="en-GB" sz="2400" b="1" dirty="0">
                <a:latin typeface="Times New Roman" panose="02020603050405020304" pitchFamily="18" charset="0"/>
                <a:cs typeface="Times New Roman" panose="02020603050405020304" pitchFamily="18" charset="0"/>
              </a:rPr>
              <a:t>Execution Steps</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Backend passes source code to appropriate container</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Container compiles/executes code</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Captures stdout, stderr, exit status</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Sends results to backend</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Backend returns formatted output to UI</a:t>
            </a: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0438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11125200" cy="5181600"/>
          </a:xfrm>
        </p:spPr>
        <p:txBody>
          <a:bodyPr>
            <a:noAutofit/>
          </a:bodyPr>
          <a:lstStyle/>
          <a:p>
            <a:r>
              <a:rPr lang="en-IN" sz="2000" b="1" dirty="0">
                <a:latin typeface="Times New Roman" panose="02020603050405020304" pitchFamily="18" charset="0"/>
                <a:cs typeface="Times New Roman" panose="02020603050405020304" pitchFamily="18" charset="0"/>
              </a:rPr>
              <a:t>Toggle-Based Execution Logic</a:t>
            </a:r>
          </a:p>
          <a:p>
            <a:pPr marL="0" indent="0">
              <a:buNone/>
            </a:pPr>
            <a:r>
              <a:rPr lang="en-IN" sz="2000" dirty="0">
                <a:latin typeface="Times New Roman" panose="02020603050405020304" pitchFamily="18" charset="0"/>
                <a:cs typeface="Times New Roman" panose="02020603050405020304" pitchFamily="18" charset="0"/>
              </a:rPr>
              <a:t>BugBuster implements a </a:t>
            </a:r>
            <a:r>
              <a:rPr lang="en-IN" sz="2000" b="1" dirty="0">
                <a:latin typeface="Times New Roman" panose="02020603050405020304" pitchFamily="18" charset="0"/>
                <a:cs typeface="Times New Roman" panose="02020603050405020304" pitchFamily="18" charset="0"/>
              </a:rPr>
              <a:t>conditional execution pipeline</a:t>
            </a:r>
            <a:r>
              <a:rPr lang="en-IN" sz="2000" dirty="0">
                <a:latin typeface="Times New Roman" panose="02020603050405020304" pitchFamily="18" charset="0"/>
                <a:cs typeface="Times New Roman" panose="02020603050405020304" pitchFamily="18" charset="0"/>
              </a:rPr>
              <a:t> based on the AutoCorrect toggle.</a:t>
            </a:r>
          </a:p>
          <a:p>
            <a:pPr marL="0" indent="0">
              <a:buNone/>
            </a:pPr>
            <a:r>
              <a:rPr lang="en-IN" sz="2000" b="1" dirty="0">
                <a:latin typeface="Times New Roman" panose="02020603050405020304" pitchFamily="18" charset="0"/>
                <a:cs typeface="Times New Roman" panose="02020603050405020304" pitchFamily="18" charset="0"/>
              </a:rPr>
              <a:t>Case 1: AutoCorrect 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Code sent to FastAPI</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FastAPI sends to DeepSeek-Coder</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Model returns corrected version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Backend forwards to Docker</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Docker executes corrected code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Output rendered to UI</a:t>
            </a:r>
          </a:p>
          <a:p>
            <a:pPr marL="0" indent="0">
              <a:buNone/>
            </a:pPr>
            <a:r>
              <a:rPr lang="en-IN" sz="2000" b="1" dirty="0">
                <a:latin typeface="Times New Roman" panose="02020603050405020304" pitchFamily="18" charset="0"/>
                <a:cs typeface="Times New Roman" panose="02020603050405020304" pitchFamily="18" charset="0"/>
              </a:rPr>
              <a:t>Case 2: AutoCorrect OFF</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Code sent directly to Docker</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Docker executes original code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Output rendered to UI</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9725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SNAPSHOT</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9513" y="1825625"/>
            <a:ext cx="7692973" cy="3736975"/>
          </a:xfrm>
        </p:spPr>
      </p:pic>
    </p:spTree>
    <p:extLst>
      <p:ext uri="{BB962C8B-B14F-4D97-AF65-F5344CB8AC3E}">
        <p14:creationId xmlns:p14="http://schemas.microsoft.com/office/powerpoint/2010/main" val="1273254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5129" y="1143000"/>
            <a:ext cx="9041741" cy="5033963"/>
          </a:xfrm>
        </p:spPr>
      </p:pic>
    </p:spTree>
    <p:extLst>
      <p:ext uri="{BB962C8B-B14F-4D97-AF65-F5344CB8AC3E}">
        <p14:creationId xmlns:p14="http://schemas.microsoft.com/office/powerpoint/2010/main" val="857468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7348" y="914400"/>
            <a:ext cx="8897304" cy="5262563"/>
          </a:xfrm>
        </p:spPr>
      </p:pic>
    </p:spTree>
    <p:extLst>
      <p:ext uri="{BB962C8B-B14F-4D97-AF65-F5344CB8AC3E}">
        <p14:creationId xmlns:p14="http://schemas.microsoft.com/office/powerpoint/2010/main" val="2404836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5581" y="1066800"/>
            <a:ext cx="9100837" cy="5110163"/>
          </a:xfrm>
        </p:spPr>
      </p:pic>
    </p:spTree>
    <p:extLst>
      <p:ext uri="{BB962C8B-B14F-4D97-AF65-F5344CB8AC3E}">
        <p14:creationId xmlns:p14="http://schemas.microsoft.com/office/powerpoint/2010/main" val="3479694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52600" y="5638800"/>
            <a:ext cx="5562600" cy="838200"/>
          </a:xfrm>
          <a:prstGeom prst="rect">
            <a:avLst/>
          </a:prstGeom>
          <a:noFill/>
        </p:spPr>
        <p:txBody>
          <a:bodyPr wrap="square" rtlCol="0">
            <a:spAutoFit/>
          </a:bodyPr>
          <a:lstStyle/>
          <a:p>
            <a:endParaRPr lang="en-IN"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1529" y="1219200"/>
            <a:ext cx="8968941" cy="4957763"/>
          </a:xfrm>
        </p:spPr>
      </p:pic>
    </p:spTree>
    <p:extLst>
      <p:ext uri="{BB962C8B-B14F-4D97-AF65-F5344CB8AC3E}">
        <p14:creationId xmlns:p14="http://schemas.microsoft.com/office/powerpoint/2010/main" val="24282001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5644" y="914400"/>
            <a:ext cx="9160711" cy="5262563"/>
          </a:xfrm>
        </p:spPr>
      </p:pic>
    </p:spTree>
    <p:extLst>
      <p:ext uri="{BB962C8B-B14F-4D97-AF65-F5344CB8AC3E}">
        <p14:creationId xmlns:p14="http://schemas.microsoft.com/office/powerpoint/2010/main" val="160197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8098" y="990600"/>
            <a:ext cx="9175803" cy="5186363"/>
          </a:xfrm>
        </p:spPr>
      </p:pic>
    </p:spTree>
    <p:extLst>
      <p:ext uri="{BB962C8B-B14F-4D97-AF65-F5344CB8AC3E}">
        <p14:creationId xmlns:p14="http://schemas.microsoft.com/office/powerpoint/2010/main" val="1019304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85800"/>
            <a:ext cx="10058399" cy="5791200"/>
          </a:xfrm>
        </p:spPr>
      </p:pic>
    </p:spTree>
    <p:extLst>
      <p:ext uri="{BB962C8B-B14F-4D97-AF65-F5344CB8AC3E}">
        <p14:creationId xmlns:p14="http://schemas.microsoft.com/office/powerpoint/2010/main" val="39361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EB18C-3273-F170-2068-73343070AA95}"/>
              </a:ext>
            </a:extLst>
          </p:cNvPr>
          <p:cNvSpPr>
            <a:spLocks noGrp="1"/>
          </p:cNvSpPr>
          <p:nvPr>
            <p:ph type="title"/>
          </p:nvPr>
        </p:nvSpPr>
        <p:spPr/>
        <p:txBody>
          <a:bodyPr/>
          <a:lstStyle/>
          <a:p>
            <a:r>
              <a:rPr lang="en-IN" dirty="0"/>
              <a:t>TEST CASES</a:t>
            </a:r>
          </a:p>
        </p:txBody>
      </p:sp>
      <p:sp>
        <p:nvSpPr>
          <p:cNvPr id="3" name="Content Placeholder 2">
            <a:extLst>
              <a:ext uri="{FF2B5EF4-FFF2-40B4-BE49-F238E27FC236}">
                <a16:creationId xmlns:a16="http://schemas.microsoft.com/office/drawing/2014/main" id="{90C965E4-3C2D-1451-7F9F-2CDE47D0EABC}"/>
              </a:ext>
            </a:extLst>
          </p:cNvPr>
          <p:cNvSpPr>
            <a:spLocks noGrp="1"/>
          </p:cNvSpPr>
          <p:nvPr>
            <p:ph idx="1"/>
          </p:nvPr>
        </p:nvSpPr>
        <p:spPr/>
        <p:txBody>
          <a:bodyPr>
            <a:normAutofit/>
          </a:bodyPr>
          <a:lstStyle/>
          <a:p>
            <a:r>
              <a:rPr lang="en-IN" sz="1800" b="1" dirty="0"/>
              <a:t>Test Case 1: Missing Semicolon Detection (C/C++)</a:t>
            </a:r>
          </a:p>
          <a:p>
            <a:r>
              <a:rPr lang="en-IN" sz="1800" dirty="0"/>
              <a:t>Input: </a:t>
            </a:r>
            <a:r>
              <a:rPr lang="en-IN" sz="1800" dirty="0" err="1"/>
              <a:t>printf</a:t>
            </a:r>
            <a:r>
              <a:rPr lang="en-IN" sz="1800" dirty="0"/>
              <a:t>("Hello")</a:t>
            </a:r>
          </a:p>
          <a:p>
            <a:r>
              <a:rPr lang="en-IN" sz="1800" dirty="0"/>
              <a:t>Expected Output: Syntax Error – Missing semicolon</a:t>
            </a:r>
          </a:p>
          <a:p>
            <a:r>
              <a:rPr lang="en-IN" sz="1800" dirty="0"/>
              <a:t>Actual Result: Error detected correctly</a:t>
            </a:r>
          </a:p>
          <a:p>
            <a:r>
              <a:rPr lang="en-IN" sz="1800" dirty="0"/>
              <a:t>Status: Passed</a:t>
            </a:r>
          </a:p>
          <a:p>
            <a:endParaRPr lang="en-IN" sz="1800" dirty="0"/>
          </a:p>
          <a:p>
            <a:r>
              <a:rPr lang="en-US" sz="1800" b="1" dirty="0"/>
              <a:t>Test Case 2: Indentation Error Detection (Python)</a:t>
            </a:r>
          </a:p>
          <a:p>
            <a:r>
              <a:rPr lang="en-US" sz="1800" dirty="0" err="1"/>
              <a:t>Input:if</a:t>
            </a:r>
            <a:r>
              <a:rPr lang="en-US" sz="1800" dirty="0"/>
              <a:t> x &gt; 5:print("Hi")</a:t>
            </a:r>
          </a:p>
          <a:p>
            <a:r>
              <a:rPr lang="en-US" sz="1800" dirty="0"/>
              <a:t>Expected Output: Indentation Error</a:t>
            </a:r>
          </a:p>
          <a:p>
            <a:r>
              <a:rPr lang="en-US" sz="1800" dirty="0"/>
              <a:t>Actual Result: Error detected with correct line number</a:t>
            </a:r>
          </a:p>
          <a:p>
            <a:r>
              <a:rPr lang="en-US" sz="1800" dirty="0"/>
              <a:t>Status: Passed</a:t>
            </a:r>
            <a:endParaRPr lang="en-IN" sz="1800" dirty="0"/>
          </a:p>
        </p:txBody>
      </p:sp>
    </p:spTree>
    <p:extLst>
      <p:ext uri="{BB962C8B-B14F-4D97-AF65-F5344CB8AC3E}">
        <p14:creationId xmlns:p14="http://schemas.microsoft.com/office/powerpoint/2010/main" val="1141969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C822B34-706B-4515-D415-65BD9E74E09F}"/>
              </a:ext>
            </a:extLst>
          </p:cNvPr>
          <p:cNvSpPr>
            <a:spLocks noGrp="1"/>
          </p:cNvSpPr>
          <p:nvPr>
            <p:ph idx="1"/>
          </p:nvPr>
        </p:nvSpPr>
        <p:spPr>
          <a:xfrm>
            <a:off x="838200" y="533400"/>
            <a:ext cx="10515600" cy="5643563"/>
          </a:xfrm>
        </p:spPr>
        <p:txBody>
          <a:bodyPr>
            <a:normAutofit lnSpcReduction="10000"/>
          </a:bodyPr>
          <a:lstStyle/>
          <a:p>
            <a:r>
              <a:rPr lang="en-US" sz="1600" b="1" dirty="0"/>
              <a:t>Test Case 3: Undeclared Variable Detection</a:t>
            </a:r>
          </a:p>
          <a:p>
            <a:r>
              <a:rPr lang="en-US" sz="1600" dirty="0"/>
              <a:t>Input: x = y + 1;</a:t>
            </a:r>
          </a:p>
          <a:p>
            <a:r>
              <a:rPr lang="en-US" sz="1600" dirty="0"/>
              <a:t>Expected Output: Semantic Error – Variable 'y' undeclared</a:t>
            </a:r>
          </a:p>
          <a:p>
            <a:r>
              <a:rPr lang="en-US" sz="1600" dirty="0"/>
              <a:t>Actual Result: Detected successfully</a:t>
            </a:r>
          </a:p>
          <a:p>
            <a:r>
              <a:rPr lang="en-US" sz="1600" dirty="0"/>
              <a:t>Status: Passed</a:t>
            </a:r>
          </a:p>
          <a:p>
            <a:endParaRPr lang="en-US" sz="1600" dirty="0"/>
          </a:p>
          <a:p>
            <a:r>
              <a:rPr lang="en-IN" sz="1600" b="1" dirty="0"/>
              <a:t>Test Case 4: Unmatched Braces Detection</a:t>
            </a:r>
          </a:p>
          <a:p>
            <a:r>
              <a:rPr lang="en-IN" sz="1600" dirty="0"/>
              <a:t>Input:{   int x = 10;</a:t>
            </a:r>
          </a:p>
          <a:p>
            <a:r>
              <a:rPr lang="en-IN" sz="1600" dirty="0"/>
              <a:t>Expected Output: Syntax Error – Missing closing brace '}’</a:t>
            </a:r>
          </a:p>
          <a:p>
            <a:r>
              <a:rPr lang="en-IN" sz="1600" dirty="0"/>
              <a:t>Actual Result: Correct error identified</a:t>
            </a:r>
          </a:p>
          <a:p>
            <a:r>
              <a:rPr lang="en-IN" sz="1600" dirty="0"/>
              <a:t>Status: Passed</a:t>
            </a:r>
          </a:p>
          <a:p>
            <a:endParaRPr lang="en-IN" sz="1600" dirty="0"/>
          </a:p>
          <a:p>
            <a:r>
              <a:rPr lang="en-US" sz="1600" b="1" dirty="0"/>
              <a:t>Test Case 5: Logical Error – Infinite Loop</a:t>
            </a:r>
          </a:p>
          <a:p>
            <a:r>
              <a:rPr lang="en-US" sz="1600" dirty="0" err="1"/>
              <a:t>Input:while</a:t>
            </a:r>
            <a:r>
              <a:rPr lang="en-US" sz="1600" dirty="0"/>
              <a:t>(1){}</a:t>
            </a:r>
          </a:p>
          <a:p>
            <a:r>
              <a:rPr lang="en-US" sz="1600" dirty="0"/>
              <a:t>Expected Output: Warning – Infinite loop detected</a:t>
            </a:r>
          </a:p>
          <a:p>
            <a:r>
              <a:rPr lang="en-US" sz="1600" dirty="0"/>
              <a:t>Actual Result: Logical error detected</a:t>
            </a:r>
          </a:p>
          <a:p>
            <a:r>
              <a:rPr lang="en-US" sz="1600" dirty="0"/>
              <a:t>Status: Passed</a:t>
            </a:r>
            <a:endParaRPr lang="en-IN" sz="1600" dirty="0"/>
          </a:p>
        </p:txBody>
      </p:sp>
    </p:spTree>
    <p:extLst>
      <p:ext uri="{BB962C8B-B14F-4D97-AF65-F5344CB8AC3E}">
        <p14:creationId xmlns:p14="http://schemas.microsoft.com/office/powerpoint/2010/main" val="3091312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9DAAC-51F3-AA4B-30AB-7C60C5935E1D}"/>
              </a:ext>
            </a:extLst>
          </p:cNvPr>
          <p:cNvSpPr>
            <a:spLocks noGrp="1"/>
          </p:cNvSpPr>
          <p:nvPr>
            <p:ph type="title"/>
          </p:nvPr>
        </p:nvSpPr>
        <p:spPr/>
        <p:txBody>
          <a:bodyPr>
            <a:normAutofit/>
          </a:bodyPr>
          <a:lstStyle/>
          <a:p>
            <a:r>
              <a:rPr lang="en-IN" sz="2400" dirty="0">
                <a:latin typeface="Times New Roman" panose="02020603050405020304" pitchFamily="18" charset="0"/>
                <a:cs typeface="Times New Roman" panose="02020603050405020304" pitchFamily="18" charset="0"/>
              </a:rPr>
              <a:t>FUTURE ENHANCEMENT</a:t>
            </a:r>
          </a:p>
        </p:txBody>
      </p:sp>
      <p:sp>
        <p:nvSpPr>
          <p:cNvPr id="3" name="Content Placeholder 2">
            <a:extLst>
              <a:ext uri="{FF2B5EF4-FFF2-40B4-BE49-F238E27FC236}">
                <a16:creationId xmlns:a16="http://schemas.microsoft.com/office/drawing/2014/main" id="{1FD80FF5-2F81-EE22-FD25-584D5F33E948}"/>
              </a:ext>
            </a:extLst>
          </p:cNvPr>
          <p:cNvSpPr>
            <a:spLocks noGrp="1"/>
          </p:cNvSpPr>
          <p:nvPr>
            <p:ph idx="1"/>
          </p:nvPr>
        </p:nvSpPr>
        <p:spPr>
          <a:xfrm>
            <a:off x="838200" y="1670563"/>
            <a:ext cx="10515600" cy="4486275"/>
          </a:xfrm>
        </p:spPr>
        <p:txBody>
          <a:bodyPr>
            <a:normAutofit/>
          </a:bodyPr>
          <a:lstStyle/>
          <a:p>
            <a:pPr marL="0" indent="0">
              <a:buNone/>
            </a:pPr>
            <a:endParaRPr lang="en-IN" sz="2400" dirty="0"/>
          </a:p>
          <a:p>
            <a:pPr marL="0" indent="0">
              <a:buNone/>
            </a:pPr>
            <a:r>
              <a:rPr lang="en-IN" sz="2400" b="1" dirty="0"/>
              <a:t>1. AI code review:</a:t>
            </a:r>
            <a:r>
              <a:rPr lang="en-US" sz="2400" dirty="0"/>
              <a:t> Automatically evaluates code for quality, security, and performance.</a:t>
            </a:r>
            <a:endParaRPr lang="en-IN" sz="2400" dirty="0"/>
          </a:p>
          <a:p>
            <a:pPr marL="0" indent="0">
              <a:buNone/>
            </a:pPr>
            <a:r>
              <a:rPr lang="en-IN" sz="2400" b="1" dirty="0"/>
              <a:t>2. Natural language refactoring</a:t>
            </a:r>
            <a:r>
              <a:rPr lang="en-IN" sz="2400" dirty="0"/>
              <a:t>: Transforms code using simple natural language instructions.</a:t>
            </a:r>
          </a:p>
          <a:p>
            <a:pPr marL="0" indent="0">
              <a:buNone/>
            </a:pPr>
            <a:r>
              <a:rPr lang="en-IN" sz="2400" dirty="0"/>
              <a:t>3. </a:t>
            </a:r>
            <a:r>
              <a:rPr lang="en-IN" sz="2400" b="1" dirty="0"/>
              <a:t>Visual debugging </a:t>
            </a:r>
            <a:r>
              <a:rPr lang="en-IN" sz="2400" dirty="0"/>
              <a:t>system:</a:t>
            </a:r>
            <a:r>
              <a:rPr lang="en-US" sz="2400" dirty="0"/>
              <a:t>4. Shows program flow and errors with interactive visual tools.</a:t>
            </a:r>
            <a:endParaRPr lang="en-IN" sz="2400" dirty="0"/>
          </a:p>
          <a:p>
            <a:pPr marL="0" indent="0">
              <a:buNone/>
            </a:pPr>
            <a:r>
              <a:rPr lang="en-IN" sz="2400" dirty="0"/>
              <a:t>4. </a:t>
            </a:r>
            <a:r>
              <a:rPr lang="en-IN" sz="2400" b="1" dirty="0"/>
              <a:t>Plugin ecosystem</a:t>
            </a:r>
            <a:r>
              <a:rPr lang="en-IN" sz="2400" dirty="0"/>
              <a:t>:</a:t>
            </a:r>
            <a:r>
              <a:rPr lang="en-US" sz="2400" dirty="0"/>
              <a:t>Lets developers add custom extensions and features easily</a:t>
            </a:r>
            <a:endParaRPr lang="en-IN" sz="2400" dirty="0"/>
          </a:p>
          <a:p>
            <a:pPr marL="0" indent="0">
              <a:buNone/>
            </a:pPr>
            <a:r>
              <a:rPr lang="en-IN" sz="2400" b="1"/>
              <a:t>5. </a:t>
            </a:r>
            <a:r>
              <a:rPr lang="en-IN" sz="2400" b="1" dirty="0"/>
              <a:t>Real-time collaboration</a:t>
            </a:r>
            <a:r>
              <a:rPr lang="en-IN" sz="2400" dirty="0"/>
              <a:t>:</a:t>
            </a:r>
            <a:r>
              <a:rPr lang="en-US" sz="2400" dirty="0"/>
              <a:t>Enables multiple users to edit and debug code together.</a:t>
            </a:r>
            <a:endParaRPr lang="en-IN" sz="2400" dirty="0"/>
          </a:p>
        </p:txBody>
      </p:sp>
    </p:spTree>
    <p:extLst>
      <p:ext uri="{BB962C8B-B14F-4D97-AF65-F5344CB8AC3E}">
        <p14:creationId xmlns:p14="http://schemas.microsoft.com/office/powerpoint/2010/main" val="1904066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B1EED-3322-E786-9DEB-BD8CF3EC2B54}"/>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8C179D63-9A05-0B0B-1516-3B6FDB3E77AF}"/>
              </a:ext>
            </a:extLst>
          </p:cNvPr>
          <p:cNvSpPr>
            <a:spLocks noGrp="1"/>
          </p:cNvSpPr>
          <p:nvPr>
            <p:ph idx="1"/>
          </p:nvPr>
        </p:nvSpPr>
        <p:spPr>
          <a:xfrm>
            <a:off x="838200" y="1690688"/>
            <a:ext cx="10515600" cy="4486275"/>
          </a:xfrm>
        </p:spPr>
        <p:txBody>
          <a:bodyPr>
            <a:normAutofit/>
          </a:bodyPr>
          <a:lstStyle/>
          <a:p>
            <a:pPr marL="0" indent="0" algn="just">
              <a:buNone/>
            </a:pPr>
            <a:r>
              <a:rPr lang="en-US" sz="2400" dirty="0" err="1">
                <a:latin typeface="Times New Roman" panose="02020603050405020304" pitchFamily="18" charset="0"/>
                <a:cs typeface="Times New Roman" panose="02020603050405020304" pitchFamily="18" charset="0"/>
              </a:rPr>
              <a:t>BugBuster</a:t>
            </a:r>
            <a:r>
              <a:rPr lang="en-US" sz="2400" dirty="0">
                <a:latin typeface="Times New Roman" panose="02020603050405020304" pitchFamily="18" charset="0"/>
                <a:cs typeface="Times New Roman" panose="02020603050405020304" pitchFamily="18" charset="0"/>
              </a:rPr>
              <a:t> IDE provides an intelligent and efficient environment for programming by integrating AI-based code correction, next-line  and multi-language support. Its workflow ensures safe code execution using containerization while reducing debugging time and improving code quality. The system features a modern React frontend, </a:t>
            </a:r>
            <a:r>
              <a:rPr lang="en-US" sz="2400" dirty="0" err="1">
                <a:latin typeface="Times New Roman" panose="02020603050405020304" pitchFamily="18" charset="0"/>
                <a:cs typeface="Times New Roman" panose="02020603050405020304" pitchFamily="18" charset="0"/>
              </a:rPr>
              <a:t>FastAPI</a:t>
            </a:r>
            <a:r>
              <a:rPr lang="en-US" sz="2400" dirty="0">
                <a:latin typeface="Times New Roman" panose="02020603050405020304" pitchFamily="18" charset="0"/>
                <a:cs typeface="Times New Roman" panose="02020603050405020304" pitchFamily="18" charset="0"/>
              </a:rPr>
              <a:t> backend and LLM-based services that offer real-time assistance and scalability. Although additional improvements like collaborative editing, deeper semantic analysis and support for more languages can be added, the current implementation establishes a strong foundation for a smart, secure and user-centric IDE that enhances developer productivity and encourages innovation.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986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1844</TotalTime>
  <Words>2136</Words>
  <Application>Microsoft Office PowerPoint</Application>
  <PresentationFormat>Widescreen</PresentationFormat>
  <Paragraphs>273</Paragraphs>
  <Slides>39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Calibri Light</vt:lpstr>
      <vt:lpstr>Cambria</vt:lpstr>
      <vt:lpstr>Cambria Math</vt:lpstr>
      <vt:lpstr>Times New Roman</vt:lpstr>
      <vt:lpstr>Wingdings</vt:lpstr>
      <vt:lpstr>Office Theme</vt:lpstr>
      <vt:lpstr>VISVESVARAYA TECHNOLOGICAL UNIVERSITY, BELAGAVI-590018</vt:lpstr>
      <vt:lpstr>Abstract</vt:lpstr>
      <vt:lpstr>Introduction</vt:lpstr>
      <vt:lpstr>Problem Statement</vt:lpstr>
      <vt:lpstr>Scope of the Project</vt:lpstr>
      <vt:lpstr>Objectives</vt:lpstr>
      <vt:lpstr>Requirements</vt:lpstr>
      <vt:lpstr>PowerPoint Presentation</vt:lpstr>
      <vt:lpstr>Design and Architecture</vt:lpstr>
      <vt:lpstr>Data Flow Diagram</vt:lpstr>
      <vt:lpstr>PowerPoint Presentation</vt:lpstr>
      <vt:lpstr>PowerPoint Presentation</vt:lpstr>
      <vt:lpstr>PowerPoint Presentation</vt:lpstr>
      <vt:lpstr>Repair phase</vt:lpstr>
      <vt:lpstr>PowerPoint Presentation</vt:lpstr>
      <vt:lpstr>PowerPoint Presentation</vt:lpstr>
      <vt:lpstr>PowerPoint Presentation</vt:lpstr>
      <vt:lpstr>PowerPoint Presentation</vt:lpstr>
      <vt:lpstr>Test suite</vt:lpstr>
      <vt:lpstr>PowerPoint Presentation</vt:lpstr>
      <vt:lpstr>PowerPoint Presentation</vt:lpstr>
      <vt:lpstr>IMPLEMENTATION </vt:lpstr>
      <vt:lpstr>PowerPoint Presentation</vt:lpstr>
      <vt:lpstr>PowerPoint Presentation</vt:lpstr>
      <vt:lpstr>PowerPoint Presentation</vt:lpstr>
      <vt:lpstr>PowerPoint Presentation</vt:lpstr>
      <vt:lpstr>PowerPoint Presentation</vt:lpstr>
      <vt:lpstr>SNAPSHOT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CASES</vt:lpstr>
      <vt:lpstr>PowerPoint Presentation</vt:lpstr>
      <vt:lpstr>FUTURE ENHANCEMENT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BugBuster  Busts bugs before you even know they’re there.</dc:title>
  <dc:creator>Gagan G</dc:creator>
  <cp:lastModifiedBy>Gagan G</cp:lastModifiedBy>
  <cp:revision>130</cp:revision>
  <cp:lastPrinted>2025-09-05T15:11:00Z</cp:lastPrinted>
  <dcterms:created xsi:type="dcterms:W3CDTF">2025-05-30T07:48:22Z</dcterms:created>
  <dcterms:modified xsi:type="dcterms:W3CDTF">2025-12-05T04:43:51Z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2025-05-23T00:00:00Z</vt:filetime>
  </property>
  <property fmtid="{D5CDD505-2E9C-101B-9397-08002B2CF9AE}" pid="3" name="Creator">
    <vt:lpwstr>Microsoft® PowerPoint® 2021</vt:lpwstr>
  </property>
  <property fmtid="{D5CDD505-2E9C-101B-9397-08002B2CF9AE}" pid="4" name="LastSaved">
    <vt:filetime>2025-05-30T00:00:00Z</vt:filetime>
  </property>
  <property fmtid="{D5CDD505-2E9C-101B-9397-08002B2CF9AE}" pid="5" name="Producer">
    <vt:lpwstr>Microsoft® PowerPoint® 2021</vt:lpwstr>
  </property>
</Properties>
</file>